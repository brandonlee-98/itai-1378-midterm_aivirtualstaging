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ITC Avant Garde Gothic" charset="1" panose="020B0502020202020204"/>
      <p:regular r:id="rId17"/>
    </p:embeddedFont>
    <p:embeddedFont>
      <p:font typeface="TT Fors" charset="1" panose="020B0003030001020000"/>
      <p:regular r:id="rId18"/>
    </p:embeddedFont>
    <p:embeddedFont>
      <p:font typeface="TT Fors Bold" charset="1" panose="020B000303000102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http://reaisolution.com"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E1F2F"/>
        </a:solidFill>
      </p:bgPr>
    </p:bg>
    <p:spTree>
      <p:nvGrpSpPr>
        <p:cNvPr id="1" name=""/>
        <p:cNvGrpSpPr/>
        <p:nvPr/>
      </p:nvGrpSpPr>
      <p:grpSpPr>
        <a:xfrm>
          <a:off x="0" y="0"/>
          <a:ext cx="0" cy="0"/>
          <a:chOff x="0" y="0"/>
          <a:chExt cx="0" cy="0"/>
        </a:xfrm>
      </p:grpSpPr>
      <p:grpSp>
        <p:nvGrpSpPr>
          <p:cNvPr name="Group 2" id="2"/>
          <p:cNvGrpSpPr/>
          <p:nvPr/>
        </p:nvGrpSpPr>
        <p:grpSpPr>
          <a:xfrm rot="0">
            <a:off x="11868150" y="0"/>
            <a:ext cx="6419850" cy="10287000"/>
            <a:chOff x="0" y="0"/>
            <a:chExt cx="8559800" cy="13716000"/>
          </a:xfrm>
        </p:grpSpPr>
        <p:sp>
          <p:nvSpPr>
            <p:cNvPr name="Freeform 3" id="3"/>
            <p:cNvSpPr/>
            <p:nvPr/>
          </p:nvSpPr>
          <p:spPr>
            <a:xfrm flipH="false" flipV="false" rot="0">
              <a:off x="0" y="0"/>
              <a:ext cx="8559800" cy="13716000"/>
            </a:xfrm>
            <a:custGeom>
              <a:avLst/>
              <a:gdLst/>
              <a:ahLst/>
              <a:cxnLst/>
              <a:rect r="r" b="b" t="t" l="l"/>
              <a:pathLst>
                <a:path h="13716000" w="8559800">
                  <a:moveTo>
                    <a:pt x="0" y="0"/>
                  </a:moveTo>
                  <a:lnTo>
                    <a:pt x="8559800" y="0"/>
                  </a:lnTo>
                  <a:lnTo>
                    <a:pt x="8559800" y="13716000"/>
                  </a:lnTo>
                  <a:lnTo>
                    <a:pt x="0" y="13716000"/>
                  </a:lnTo>
                  <a:close/>
                </a:path>
              </a:pathLst>
            </a:custGeom>
            <a:blipFill>
              <a:blip r:embed="rId2"/>
              <a:stretch>
                <a:fillRect l="0" t="-97" r="0" b="-97"/>
              </a:stretch>
            </a:blipFill>
          </p:spPr>
        </p:sp>
      </p:grpSp>
      <p:sp>
        <p:nvSpPr>
          <p:cNvPr name="TextBox 4" id="4"/>
          <p:cNvSpPr txBox="true"/>
          <p:nvPr/>
        </p:nvSpPr>
        <p:spPr>
          <a:xfrm rot="0">
            <a:off x="666750" y="1545431"/>
            <a:ext cx="9763125" cy="2804322"/>
          </a:xfrm>
          <a:prstGeom prst="rect">
            <a:avLst/>
          </a:prstGeom>
        </p:spPr>
        <p:txBody>
          <a:bodyPr anchor="t" rtlCol="false" tIns="0" lIns="0" bIns="0" rIns="0">
            <a:spAutoFit/>
          </a:bodyPr>
          <a:lstStyle/>
          <a:p>
            <a:pPr algn="l">
              <a:lnSpc>
                <a:spcPts val="9999"/>
              </a:lnSpc>
            </a:pPr>
            <a:r>
              <a:rPr lang="en-US" sz="9999" spc="-298">
                <a:solidFill>
                  <a:srgbClr val="FFFFFF"/>
                </a:solidFill>
                <a:latin typeface="ITC Avant Garde Gothic"/>
                <a:ea typeface="ITC Avant Garde Gothic"/>
                <a:cs typeface="ITC Avant Garde Gothic"/>
                <a:sym typeface="ITC Avant Garde Gothic"/>
              </a:rPr>
              <a:t>AI-Powered Virtual Staging</a:t>
            </a:r>
          </a:p>
        </p:txBody>
      </p:sp>
      <p:sp>
        <p:nvSpPr>
          <p:cNvPr name="TextBox 5" id="5"/>
          <p:cNvSpPr txBox="true"/>
          <p:nvPr/>
        </p:nvSpPr>
        <p:spPr>
          <a:xfrm rot="0">
            <a:off x="666750" y="483394"/>
            <a:ext cx="9763125" cy="574519"/>
          </a:xfrm>
          <a:prstGeom prst="rect">
            <a:avLst/>
          </a:prstGeom>
        </p:spPr>
        <p:txBody>
          <a:bodyPr anchor="t" rtlCol="false" tIns="0" lIns="0" bIns="0" rIns="0">
            <a:spAutoFit/>
          </a:bodyPr>
          <a:lstStyle/>
          <a:p>
            <a:pPr algn="l">
              <a:lnSpc>
                <a:spcPts val="3640"/>
              </a:lnSpc>
            </a:pPr>
            <a:r>
              <a:rPr lang="en-US" sz="2600">
                <a:solidFill>
                  <a:srgbClr val="A0AEC0"/>
                </a:solidFill>
                <a:latin typeface="ITC Avant Garde Gothic"/>
                <a:ea typeface="ITC Avant Garde Gothic"/>
                <a:cs typeface="ITC Avant Garde Gothic"/>
                <a:sym typeface="ITC Avant Garde Gothic"/>
              </a:rPr>
              <a:t>RE.AI SOLUTIONS</a:t>
            </a:r>
          </a:p>
        </p:txBody>
      </p:sp>
      <p:sp>
        <p:nvSpPr>
          <p:cNvPr name="TextBox 6" id="6"/>
          <p:cNvSpPr txBox="true"/>
          <p:nvPr/>
        </p:nvSpPr>
        <p:spPr>
          <a:xfrm rot="0">
            <a:off x="663473" y="9133837"/>
            <a:ext cx="7194652" cy="486413"/>
          </a:xfrm>
          <a:prstGeom prst="rect">
            <a:avLst/>
          </a:prstGeom>
        </p:spPr>
        <p:txBody>
          <a:bodyPr anchor="t" rtlCol="false" tIns="0" lIns="0" bIns="0" rIns="0">
            <a:spAutoFit/>
          </a:bodyPr>
          <a:lstStyle/>
          <a:p>
            <a:pPr algn="l">
              <a:lnSpc>
                <a:spcPts val="3640"/>
              </a:lnSpc>
            </a:pPr>
            <a:r>
              <a:rPr lang="en-US" sz="2600">
                <a:solidFill>
                  <a:srgbClr val="FFFFFF"/>
                </a:solidFill>
                <a:latin typeface="TT Fors"/>
                <a:ea typeface="TT Fors"/>
                <a:cs typeface="TT Fors"/>
                <a:sym typeface="TT Fors"/>
              </a:rPr>
              <a:t>Presented by Brandon Matias</a:t>
            </a:r>
          </a:p>
        </p:txBody>
      </p:sp>
      <p:sp>
        <p:nvSpPr>
          <p:cNvPr name="Freeform 7" id="7"/>
          <p:cNvSpPr/>
          <p:nvPr/>
        </p:nvSpPr>
        <p:spPr>
          <a:xfrm flipH="false" flipV="false" rot="0">
            <a:off x="6720678" y="8333118"/>
            <a:ext cx="1791957" cy="1791957"/>
          </a:xfrm>
          <a:custGeom>
            <a:avLst/>
            <a:gdLst/>
            <a:ahLst/>
            <a:cxnLst/>
            <a:rect r="r" b="b" t="t" l="l"/>
            <a:pathLst>
              <a:path h="1791957" w="1791957">
                <a:moveTo>
                  <a:pt x="0" y="0"/>
                </a:moveTo>
                <a:lnTo>
                  <a:pt x="1791957" y="0"/>
                </a:lnTo>
                <a:lnTo>
                  <a:pt x="1791957" y="1791957"/>
                </a:lnTo>
                <a:lnTo>
                  <a:pt x="0" y="17919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8248021" y="8333118"/>
            <a:ext cx="1791957" cy="1791957"/>
          </a:xfrm>
          <a:custGeom>
            <a:avLst/>
            <a:gdLst/>
            <a:ahLst/>
            <a:cxnLst/>
            <a:rect r="r" b="b" t="t" l="l"/>
            <a:pathLst>
              <a:path h="1791957" w="1791957">
                <a:moveTo>
                  <a:pt x="0" y="0"/>
                </a:moveTo>
                <a:lnTo>
                  <a:pt x="1791958" y="0"/>
                </a:lnTo>
                <a:lnTo>
                  <a:pt x="1791958" y="1791957"/>
                </a:lnTo>
                <a:lnTo>
                  <a:pt x="0" y="17919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9775365" y="8333118"/>
            <a:ext cx="1791957" cy="1791957"/>
          </a:xfrm>
          <a:custGeom>
            <a:avLst/>
            <a:gdLst/>
            <a:ahLst/>
            <a:cxnLst/>
            <a:rect r="r" b="b" t="t" l="l"/>
            <a:pathLst>
              <a:path h="1791957" w="1791957">
                <a:moveTo>
                  <a:pt x="0" y="0"/>
                </a:moveTo>
                <a:lnTo>
                  <a:pt x="1791957" y="0"/>
                </a:lnTo>
                <a:lnTo>
                  <a:pt x="1791957" y="1791957"/>
                </a:lnTo>
                <a:lnTo>
                  <a:pt x="0" y="17919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53754"/>
        </a:solidFill>
      </p:bgPr>
    </p:bg>
    <p:spTree>
      <p:nvGrpSpPr>
        <p:cNvPr id="1" name=""/>
        <p:cNvGrpSpPr/>
        <p:nvPr/>
      </p:nvGrpSpPr>
      <p:grpSpPr>
        <a:xfrm>
          <a:off x="0" y="0"/>
          <a:ext cx="0" cy="0"/>
          <a:chOff x="0" y="0"/>
          <a:chExt cx="0" cy="0"/>
        </a:xfrm>
      </p:grpSpPr>
      <p:sp>
        <p:nvSpPr>
          <p:cNvPr name="TextBox 2" id="2"/>
          <p:cNvSpPr txBox="true"/>
          <p:nvPr/>
        </p:nvSpPr>
        <p:spPr>
          <a:xfrm rot="0">
            <a:off x="1028700" y="1019175"/>
            <a:ext cx="8324850" cy="2239166"/>
          </a:xfrm>
          <a:prstGeom prst="rect">
            <a:avLst/>
          </a:prstGeom>
        </p:spPr>
        <p:txBody>
          <a:bodyPr anchor="t" rtlCol="false" tIns="0" lIns="0" bIns="0" rIns="0">
            <a:spAutoFit/>
          </a:bodyPr>
          <a:lstStyle/>
          <a:p>
            <a:pPr algn="l">
              <a:lnSpc>
                <a:spcPts val="8000"/>
              </a:lnSpc>
            </a:pPr>
            <a:r>
              <a:rPr lang="en-US" sz="8000" spc="-240">
                <a:solidFill>
                  <a:srgbClr val="FFFFFF"/>
                </a:solidFill>
                <a:latin typeface="ITC Avant Garde Gothic"/>
                <a:ea typeface="ITC Avant Garde Gothic"/>
                <a:cs typeface="ITC Avant Garde Gothic"/>
                <a:sym typeface="ITC Avant Garde Gothic"/>
              </a:rPr>
              <a:t>The Problem in Staging</a:t>
            </a:r>
          </a:p>
        </p:txBody>
      </p:sp>
      <p:sp>
        <p:nvSpPr>
          <p:cNvPr name="TextBox 3" id="3"/>
          <p:cNvSpPr txBox="true"/>
          <p:nvPr/>
        </p:nvSpPr>
        <p:spPr>
          <a:xfrm rot="0">
            <a:off x="1028700" y="3191666"/>
            <a:ext cx="8324850" cy="602456"/>
          </a:xfrm>
          <a:prstGeom prst="rect">
            <a:avLst/>
          </a:prstGeom>
        </p:spPr>
        <p:txBody>
          <a:bodyPr anchor="t" rtlCol="false" tIns="0" lIns="0" bIns="0" rIns="0">
            <a:spAutoFit/>
          </a:bodyPr>
          <a:lstStyle/>
          <a:p>
            <a:pPr algn="l">
              <a:lnSpc>
                <a:spcPts val="3839"/>
              </a:lnSpc>
            </a:pPr>
            <a:r>
              <a:rPr lang="en-US" sz="3199" spc="-95">
                <a:solidFill>
                  <a:srgbClr val="A0AEC0"/>
                </a:solidFill>
                <a:latin typeface="ITC Avant Garde Gothic"/>
                <a:ea typeface="ITC Avant Garde Gothic"/>
                <a:cs typeface="ITC Avant Garde Gothic"/>
                <a:sym typeface="ITC Avant Garde Gothic"/>
              </a:rPr>
              <a:t>Key Challenges in Real Estate Marketing</a:t>
            </a:r>
          </a:p>
        </p:txBody>
      </p:sp>
      <p:sp>
        <p:nvSpPr>
          <p:cNvPr name="TextBox 4" id="4"/>
          <p:cNvSpPr txBox="true"/>
          <p:nvPr/>
        </p:nvSpPr>
        <p:spPr>
          <a:xfrm rot="0">
            <a:off x="1028700" y="4650091"/>
            <a:ext cx="8115300" cy="2590765"/>
          </a:xfrm>
          <a:prstGeom prst="rect">
            <a:avLst/>
          </a:prstGeom>
        </p:spPr>
        <p:txBody>
          <a:bodyPr anchor="t" rtlCol="false" tIns="0" lIns="0" bIns="0" rIns="0">
            <a:spAutoFit/>
          </a:bodyPr>
          <a:lstStyle/>
          <a:p>
            <a:pPr algn="l">
              <a:lnSpc>
                <a:spcPts val="4199"/>
              </a:lnSpc>
            </a:pPr>
            <a:r>
              <a:rPr lang="en-US" sz="2998">
                <a:solidFill>
                  <a:srgbClr val="FFFFFF"/>
                </a:solidFill>
                <a:latin typeface="TT Fors"/>
                <a:ea typeface="TT Fors"/>
                <a:cs typeface="TT Fors"/>
                <a:sym typeface="TT Fors"/>
              </a:rPr>
              <a:t>Empty homes tend to sell </a:t>
            </a:r>
            <a:r>
              <a:rPr lang="en-US" sz="2998" b="true">
                <a:solidFill>
                  <a:srgbClr val="FFFFFF"/>
                </a:solidFill>
                <a:latin typeface="TT Fors Bold"/>
                <a:ea typeface="TT Fors Bold"/>
                <a:cs typeface="TT Fors Bold"/>
                <a:sym typeface="TT Fors Bold"/>
              </a:rPr>
              <a:t>slowly and for less</a:t>
            </a:r>
            <a:r>
              <a:rPr lang="en-US" sz="2998">
                <a:solidFill>
                  <a:srgbClr val="FFFFFF"/>
                </a:solidFill>
                <a:latin typeface="TT Fors"/>
                <a:ea typeface="TT Fors"/>
                <a:cs typeface="TT Fors"/>
                <a:sym typeface="TT Fors"/>
              </a:rPr>
              <a:t>, creating a significant barrier for sellers. Traditional staging is expensive and current digital tools often lack reliability and affordability.</a:t>
            </a:r>
          </a:p>
        </p:txBody>
      </p:sp>
      <p:grpSp>
        <p:nvGrpSpPr>
          <p:cNvPr name="Group 5" id="5"/>
          <p:cNvGrpSpPr/>
          <p:nvPr/>
        </p:nvGrpSpPr>
        <p:grpSpPr>
          <a:xfrm rot="0">
            <a:off x="10734675" y="0"/>
            <a:ext cx="7553325" cy="10287000"/>
            <a:chOff x="0" y="0"/>
            <a:chExt cx="10071100" cy="13716000"/>
          </a:xfrm>
        </p:grpSpPr>
        <p:sp>
          <p:nvSpPr>
            <p:cNvPr name="Freeform 6" id="6"/>
            <p:cNvSpPr/>
            <p:nvPr/>
          </p:nvSpPr>
          <p:spPr>
            <a:xfrm flipH="false" flipV="false" rot="0">
              <a:off x="0" y="0"/>
              <a:ext cx="10071100" cy="13716000"/>
            </a:xfrm>
            <a:custGeom>
              <a:avLst/>
              <a:gdLst/>
              <a:ahLst/>
              <a:cxnLst/>
              <a:rect r="r" b="b" t="t" l="l"/>
              <a:pathLst>
                <a:path h="13716000" w="10071100">
                  <a:moveTo>
                    <a:pt x="0" y="0"/>
                  </a:moveTo>
                  <a:lnTo>
                    <a:pt x="10071100" y="0"/>
                  </a:lnTo>
                  <a:lnTo>
                    <a:pt x="10071100" y="13716000"/>
                  </a:lnTo>
                  <a:lnTo>
                    <a:pt x="0" y="13716000"/>
                  </a:lnTo>
                  <a:close/>
                </a:path>
              </a:pathLst>
            </a:custGeom>
            <a:blipFill>
              <a:blip r:embed="rId2"/>
              <a:stretch>
                <a:fillRect l="0" t="-193" r="0" b="-193"/>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E1F2F"/>
        </a:solidFill>
      </p:bgPr>
    </p:bg>
    <p:spTree>
      <p:nvGrpSpPr>
        <p:cNvPr id="1" name=""/>
        <p:cNvGrpSpPr/>
        <p:nvPr/>
      </p:nvGrpSpPr>
      <p:grpSpPr>
        <a:xfrm>
          <a:off x="0" y="0"/>
          <a:ext cx="0" cy="0"/>
          <a:chOff x="0" y="0"/>
          <a:chExt cx="0" cy="0"/>
        </a:xfrm>
      </p:grpSpPr>
      <p:sp>
        <p:nvSpPr>
          <p:cNvPr name="TextBox 2" id="2"/>
          <p:cNvSpPr txBox="true"/>
          <p:nvPr/>
        </p:nvSpPr>
        <p:spPr>
          <a:xfrm rot="0">
            <a:off x="819150" y="1012031"/>
            <a:ext cx="8324850" cy="2239166"/>
          </a:xfrm>
          <a:prstGeom prst="rect">
            <a:avLst/>
          </a:prstGeom>
        </p:spPr>
        <p:txBody>
          <a:bodyPr anchor="t" rtlCol="false" tIns="0" lIns="0" bIns="0" rIns="0">
            <a:spAutoFit/>
          </a:bodyPr>
          <a:lstStyle/>
          <a:p>
            <a:pPr algn="l">
              <a:lnSpc>
                <a:spcPts val="8000"/>
              </a:lnSpc>
            </a:pPr>
            <a:r>
              <a:rPr lang="en-US" sz="8000" spc="-240">
                <a:solidFill>
                  <a:srgbClr val="FFFFFF"/>
                </a:solidFill>
                <a:latin typeface="ITC Avant Garde Gothic"/>
                <a:ea typeface="ITC Avant Garde Gothic"/>
                <a:cs typeface="ITC Avant Garde Gothic"/>
                <a:sym typeface="ITC Avant Garde Gothic"/>
              </a:rPr>
              <a:t>Introducing RE.AI Solution</a:t>
            </a:r>
          </a:p>
        </p:txBody>
      </p:sp>
      <p:sp>
        <p:nvSpPr>
          <p:cNvPr name="TextBox 3" id="3"/>
          <p:cNvSpPr txBox="true"/>
          <p:nvPr/>
        </p:nvSpPr>
        <p:spPr>
          <a:xfrm rot="0">
            <a:off x="819150" y="3369278"/>
            <a:ext cx="8324850" cy="602456"/>
          </a:xfrm>
          <a:prstGeom prst="rect">
            <a:avLst/>
          </a:prstGeom>
        </p:spPr>
        <p:txBody>
          <a:bodyPr anchor="t" rtlCol="false" tIns="0" lIns="0" bIns="0" rIns="0">
            <a:spAutoFit/>
          </a:bodyPr>
          <a:lstStyle/>
          <a:p>
            <a:pPr algn="l">
              <a:lnSpc>
                <a:spcPts val="3839"/>
              </a:lnSpc>
            </a:pPr>
            <a:r>
              <a:rPr lang="en-US" sz="3199" spc="-95">
                <a:solidFill>
                  <a:srgbClr val="A0AEC0"/>
                </a:solidFill>
                <a:latin typeface="ITC Avant Garde Gothic"/>
                <a:ea typeface="ITC Avant Garde Gothic"/>
                <a:cs typeface="ITC Avant Garde Gothic"/>
                <a:sym typeface="ITC Avant Garde Gothic"/>
              </a:rPr>
              <a:t>Transforming Empty Spaces into Homes</a:t>
            </a:r>
          </a:p>
        </p:txBody>
      </p:sp>
      <p:sp>
        <p:nvSpPr>
          <p:cNvPr name="TextBox 4" id="4"/>
          <p:cNvSpPr txBox="true"/>
          <p:nvPr/>
        </p:nvSpPr>
        <p:spPr>
          <a:xfrm rot="0">
            <a:off x="819150" y="4677536"/>
            <a:ext cx="8324850" cy="3114640"/>
          </a:xfrm>
          <a:prstGeom prst="rect">
            <a:avLst/>
          </a:prstGeom>
        </p:spPr>
        <p:txBody>
          <a:bodyPr anchor="t" rtlCol="false" tIns="0" lIns="0" bIns="0" rIns="0">
            <a:spAutoFit/>
          </a:bodyPr>
          <a:lstStyle/>
          <a:p>
            <a:pPr algn="l">
              <a:lnSpc>
                <a:spcPts val="4199"/>
              </a:lnSpc>
            </a:pPr>
            <a:r>
              <a:rPr lang="en-US" sz="2998" b="true">
                <a:solidFill>
                  <a:srgbClr val="FFFFFF"/>
                </a:solidFill>
                <a:latin typeface="TT Fors Bold"/>
                <a:ea typeface="TT Fors Bold"/>
                <a:cs typeface="TT Fors Bold"/>
                <a:sym typeface="TT Fors Bold"/>
              </a:rPr>
              <a:t>RE.AI Solution</a:t>
            </a:r>
            <a:r>
              <a:rPr lang="en-US" sz="2998">
                <a:solidFill>
                  <a:srgbClr val="FFFFFF"/>
                </a:solidFill>
                <a:latin typeface="TT Fors"/>
                <a:ea typeface="TT Fors"/>
                <a:cs typeface="TT Fors"/>
                <a:sym typeface="TT Fors"/>
              </a:rPr>
              <a:t> revolutionizes real estate staging by providing a web-based platform that converts empty room photos into beautifully furnished images instantly, ensuring </a:t>
            </a:r>
            <a:r>
              <a:rPr lang="en-US" sz="2998" b="true">
                <a:solidFill>
                  <a:srgbClr val="FFFFFF"/>
                </a:solidFill>
                <a:latin typeface="TT Fors Bold"/>
                <a:ea typeface="TT Fors Bold"/>
                <a:cs typeface="TT Fors Bold"/>
                <a:sym typeface="TT Fors Bold"/>
              </a:rPr>
              <a:t>100% architectural integrity</a:t>
            </a:r>
            <a:r>
              <a:rPr lang="en-US" sz="2998">
                <a:solidFill>
                  <a:srgbClr val="FFFFFF"/>
                </a:solidFill>
                <a:latin typeface="TT Fors"/>
                <a:ea typeface="TT Fors"/>
                <a:cs typeface="TT Fors"/>
                <a:sym typeface="TT Fors"/>
              </a:rPr>
              <a:t> and market readiness.</a:t>
            </a:r>
          </a:p>
        </p:txBody>
      </p:sp>
      <p:grpSp>
        <p:nvGrpSpPr>
          <p:cNvPr name="Group 5" id="5"/>
          <p:cNvGrpSpPr/>
          <p:nvPr/>
        </p:nvGrpSpPr>
        <p:grpSpPr>
          <a:xfrm rot="0">
            <a:off x="10734675" y="0"/>
            <a:ext cx="7553325" cy="10287000"/>
            <a:chOff x="0" y="0"/>
            <a:chExt cx="10071100" cy="13716000"/>
          </a:xfrm>
        </p:grpSpPr>
        <p:sp>
          <p:nvSpPr>
            <p:cNvPr name="Freeform 6" id="6"/>
            <p:cNvSpPr/>
            <p:nvPr/>
          </p:nvSpPr>
          <p:spPr>
            <a:xfrm flipH="false" flipV="false" rot="0">
              <a:off x="0" y="0"/>
              <a:ext cx="10071100" cy="13716000"/>
            </a:xfrm>
            <a:custGeom>
              <a:avLst/>
              <a:gdLst/>
              <a:ahLst/>
              <a:cxnLst/>
              <a:rect r="r" b="b" t="t" l="l"/>
              <a:pathLst>
                <a:path h="13716000" w="10071100">
                  <a:moveTo>
                    <a:pt x="0" y="0"/>
                  </a:moveTo>
                  <a:lnTo>
                    <a:pt x="10071100" y="0"/>
                  </a:lnTo>
                  <a:lnTo>
                    <a:pt x="10071100" y="13716000"/>
                  </a:lnTo>
                  <a:lnTo>
                    <a:pt x="0" y="13716000"/>
                  </a:lnTo>
                  <a:close/>
                </a:path>
              </a:pathLst>
            </a:custGeom>
            <a:blipFill>
              <a:blip r:embed="rId2"/>
              <a:stretch>
                <a:fillRect l="0" t="-193" r="0" b="-193"/>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53754"/>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6886575" cy="3550444"/>
            <a:chOff x="0" y="0"/>
            <a:chExt cx="9182100" cy="4733925"/>
          </a:xfrm>
        </p:grpSpPr>
        <p:sp>
          <p:nvSpPr>
            <p:cNvPr name="TextBox 3" id="3"/>
            <p:cNvSpPr txBox="true"/>
            <p:nvPr/>
          </p:nvSpPr>
          <p:spPr>
            <a:xfrm rot="0">
              <a:off x="0" y="-9525"/>
              <a:ext cx="9182100" cy="2982379"/>
            </a:xfrm>
            <a:prstGeom prst="rect">
              <a:avLst/>
            </a:prstGeom>
          </p:spPr>
          <p:txBody>
            <a:bodyPr anchor="t" rtlCol="false" tIns="0" lIns="0" bIns="0" rIns="0">
              <a:spAutoFit/>
            </a:bodyPr>
            <a:lstStyle/>
            <a:p>
              <a:pPr algn="l">
                <a:lnSpc>
                  <a:spcPts val="8000"/>
                </a:lnSpc>
              </a:pPr>
              <a:r>
                <a:rPr lang="en-US" sz="8000" spc="-240">
                  <a:solidFill>
                    <a:srgbClr val="FFFFFF"/>
                  </a:solidFill>
                  <a:latin typeface="ITC Avant Garde Gothic"/>
                  <a:ea typeface="ITC Avant Garde Gothic"/>
                  <a:cs typeface="ITC Avant Garde Gothic"/>
                  <a:sym typeface="ITC Avant Garde Gothic"/>
                </a:rPr>
                <a:t>Technical Architecture</a:t>
              </a:r>
            </a:p>
          </p:txBody>
        </p:sp>
        <p:sp>
          <p:nvSpPr>
            <p:cNvPr name="TextBox 4" id="4"/>
            <p:cNvSpPr txBox="true"/>
            <p:nvPr/>
          </p:nvSpPr>
          <p:spPr>
            <a:xfrm rot="0">
              <a:off x="0" y="3305175"/>
              <a:ext cx="9182100" cy="1428750"/>
            </a:xfrm>
            <a:prstGeom prst="rect">
              <a:avLst/>
            </a:prstGeom>
          </p:spPr>
          <p:txBody>
            <a:bodyPr anchor="t" rtlCol="false" tIns="0" lIns="0" bIns="0" rIns="0">
              <a:spAutoFit/>
            </a:bodyPr>
            <a:lstStyle/>
            <a:p>
              <a:pPr algn="l">
                <a:lnSpc>
                  <a:spcPts val="3839"/>
                </a:lnSpc>
              </a:pPr>
              <a:r>
                <a:rPr lang="en-US" sz="3199" spc="-95">
                  <a:solidFill>
                    <a:srgbClr val="A0AEC0"/>
                  </a:solidFill>
                  <a:latin typeface="ITC Avant Garde Gothic"/>
                  <a:ea typeface="ITC Avant Garde Gothic"/>
                  <a:cs typeface="ITC Avant Garde Gothic"/>
                  <a:sym typeface="ITC Avant Garde Gothic"/>
                </a:rPr>
                <a:t>Overview of the system components and AI engines</a:t>
              </a:r>
            </a:p>
          </p:txBody>
        </p:sp>
      </p:grpSp>
      <p:grpSp>
        <p:nvGrpSpPr>
          <p:cNvPr name="Group 5" id="5"/>
          <p:cNvGrpSpPr/>
          <p:nvPr/>
        </p:nvGrpSpPr>
        <p:grpSpPr>
          <a:xfrm rot="0">
            <a:off x="9639106" y="1375154"/>
            <a:ext cx="7137260" cy="7536692"/>
            <a:chOff x="0" y="0"/>
            <a:chExt cx="9516347" cy="10048923"/>
          </a:xfrm>
        </p:grpSpPr>
        <p:sp>
          <p:nvSpPr>
            <p:cNvPr name="TextBox 6" id="6"/>
            <p:cNvSpPr txBox="true"/>
            <p:nvPr/>
          </p:nvSpPr>
          <p:spPr>
            <a:xfrm rot="0">
              <a:off x="0" y="651722"/>
              <a:ext cx="9516347" cy="1861146"/>
            </a:xfrm>
            <a:prstGeom prst="rect">
              <a:avLst/>
            </a:prstGeom>
          </p:spPr>
          <p:txBody>
            <a:bodyPr anchor="t" rtlCol="false" tIns="0" lIns="0" bIns="0" rIns="0">
              <a:spAutoFit/>
            </a:bodyPr>
            <a:lstStyle/>
            <a:p>
              <a:pPr algn="l">
                <a:lnSpc>
                  <a:spcPts val="3779"/>
                </a:lnSpc>
              </a:pPr>
              <a:r>
                <a:rPr lang="en-US" sz="2698">
                  <a:solidFill>
                    <a:srgbClr val="FFFFFF"/>
                  </a:solidFill>
                  <a:latin typeface="TT Fors"/>
                  <a:ea typeface="TT Fors"/>
                  <a:cs typeface="TT Fors"/>
                  <a:sym typeface="TT Fors"/>
                </a:rPr>
                <a:t>The frontend is built on Replit, utilizing GCS-backed Object Storage for efficient file handling and user interactions.</a:t>
              </a:r>
            </a:p>
          </p:txBody>
        </p:sp>
        <p:sp>
          <p:nvSpPr>
            <p:cNvPr name="TextBox 7" id="7"/>
            <p:cNvSpPr txBox="true"/>
            <p:nvPr/>
          </p:nvSpPr>
          <p:spPr>
            <a:xfrm rot="0">
              <a:off x="0" y="-114300"/>
              <a:ext cx="9516347" cy="679873"/>
            </a:xfrm>
            <a:prstGeom prst="rect">
              <a:avLst/>
            </a:prstGeom>
          </p:spPr>
          <p:txBody>
            <a:bodyPr anchor="t" rtlCol="false" tIns="0" lIns="0" bIns="0" rIns="0">
              <a:spAutoFit/>
            </a:bodyPr>
            <a:lstStyle/>
            <a:p>
              <a:pPr algn="l">
                <a:lnSpc>
                  <a:spcPts val="3919"/>
                </a:lnSpc>
              </a:pPr>
              <a:r>
                <a:rPr lang="en-US" sz="2799" spc="-83">
                  <a:solidFill>
                    <a:srgbClr val="FFFFFF"/>
                  </a:solidFill>
                  <a:latin typeface="ITC Avant Garde Gothic"/>
                  <a:ea typeface="ITC Avant Garde Gothic"/>
                  <a:cs typeface="ITC Avant Garde Gothic"/>
                  <a:sym typeface="ITC Avant Garde Gothic"/>
                </a:rPr>
                <a:t>Frontend System</a:t>
              </a:r>
            </a:p>
          </p:txBody>
        </p:sp>
        <p:sp>
          <p:nvSpPr>
            <p:cNvPr name="TextBox 8" id="8"/>
            <p:cNvSpPr txBox="true"/>
            <p:nvPr/>
          </p:nvSpPr>
          <p:spPr>
            <a:xfrm rot="0">
              <a:off x="0" y="4182382"/>
              <a:ext cx="9516347" cy="1861146"/>
            </a:xfrm>
            <a:prstGeom prst="rect">
              <a:avLst/>
            </a:prstGeom>
          </p:spPr>
          <p:txBody>
            <a:bodyPr anchor="t" rtlCol="false" tIns="0" lIns="0" bIns="0" rIns="0">
              <a:spAutoFit/>
            </a:bodyPr>
            <a:lstStyle/>
            <a:p>
              <a:pPr algn="l">
                <a:lnSpc>
                  <a:spcPts val="3779"/>
                </a:lnSpc>
              </a:pPr>
              <a:r>
                <a:rPr lang="en-US" sz="2698">
                  <a:solidFill>
                    <a:srgbClr val="FFFFFF"/>
                  </a:solidFill>
                  <a:latin typeface="TT Fors"/>
                  <a:ea typeface="TT Fors"/>
                  <a:cs typeface="TT Fors"/>
                  <a:sym typeface="TT Fors"/>
                </a:rPr>
                <a:t>PostgreSQL (Neon) serves as the database, managing job tracking and token usage to ensure smooth operations and performance.</a:t>
              </a:r>
            </a:p>
          </p:txBody>
        </p:sp>
        <p:sp>
          <p:nvSpPr>
            <p:cNvPr name="TextBox 9" id="9"/>
            <p:cNvSpPr txBox="true"/>
            <p:nvPr/>
          </p:nvSpPr>
          <p:spPr>
            <a:xfrm rot="0">
              <a:off x="0" y="3376468"/>
              <a:ext cx="9516347" cy="679873"/>
            </a:xfrm>
            <a:prstGeom prst="rect">
              <a:avLst/>
            </a:prstGeom>
          </p:spPr>
          <p:txBody>
            <a:bodyPr anchor="t" rtlCol="false" tIns="0" lIns="0" bIns="0" rIns="0">
              <a:spAutoFit/>
            </a:bodyPr>
            <a:lstStyle/>
            <a:p>
              <a:pPr algn="l">
                <a:lnSpc>
                  <a:spcPts val="3919"/>
                </a:lnSpc>
              </a:pPr>
              <a:r>
                <a:rPr lang="en-US" sz="2799" spc="-83">
                  <a:solidFill>
                    <a:srgbClr val="FFFFFF"/>
                  </a:solidFill>
                  <a:latin typeface="ITC Avant Garde Gothic"/>
                  <a:ea typeface="ITC Avant Garde Gothic"/>
                  <a:cs typeface="ITC Avant Garde Gothic"/>
                  <a:sym typeface="ITC Avant Garde Gothic"/>
                </a:rPr>
                <a:t>Database Management</a:t>
              </a:r>
            </a:p>
          </p:txBody>
        </p:sp>
        <p:sp>
          <p:nvSpPr>
            <p:cNvPr name="TextBox 10" id="10"/>
            <p:cNvSpPr txBox="true"/>
            <p:nvPr/>
          </p:nvSpPr>
          <p:spPr>
            <a:xfrm rot="0">
              <a:off x="0" y="7552777"/>
              <a:ext cx="9516347" cy="2496146"/>
            </a:xfrm>
            <a:prstGeom prst="rect">
              <a:avLst/>
            </a:prstGeom>
          </p:spPr>
          <p:txBody>
            <a:bodyPr anchor="t" rtlCol="false" tIns="0" lIns="0" bIns="0" rIns="0">
              <a:spAutoFit/>
            </a:bodyPr>
            <a:lstStyle/>
            <a:p>
              <a:pPr algn="l">
                <a:lnSpc>
                  <a:spcPts val="3779"/>
                </a:lnSpc>
              </a:pPr>
              <a:r>
                <a:rPr lang="en-US" sz="2698">
                  <a:solidFill>
                    <a:srgbClr val="FFFFFF"/>
                  </a:solidFill>
                  <a:latin typeface="TT Fors"/>
                  <a:ea typeface="TT Fors"/>
                  <a:cs typeface="TT Fors"/>
                  <a:sym typeface="TT Fors"/>
                </a:rPr>
                <a:t>The architecture incorporates primary and fallback AI engines, optimizing image processing capabilities while maintaining reliability and performance.</a:t>
              </a:r>
            </a:p>
          </p:txBody>
        </p:sp>
        <p:sp>
          <p:nvSpPr>
            <p:cNvPr name="TextBox 11" id="11"/>
            <p:cNvSpPr txBox="true"/>
            <p:nvPr/>
          </p:nvSpPr>
          <p:spPr>
            <a:xfrm rot="0">
              <a:off x="0" y="6865521"/>
              <a:ext cx="9516347" cy="679873"/>
            </a:xfrm>
            <a:prstGeom prst="rect">
              <a:avLst/>
            </a:prstGeom>
          </p:spPr>
          <p:txBody>
            <a:bodyPr anchor="t" rtlCol="false" tIns="0" lIns="0" bIns="0" rIns="0">
              <a:spAutoFit/>
            </a:bodyPr>
            <a:lstStyle/>
            <a:p>
              <a:pPr algn="l">
                <a:lnSpc>
                  <a:spcPts val="3919"/>
                </a:lnSpc>
              </a:pPr>
              <a:r>
                <a:rPr lang="en-US" sz="2799" spc="-83">
                  <a:solidFill>
                    <a:srgbClr val="FFFFFF"/>
                  </a:solidFill>
                  <a:latin typeface="ITC Avant Garde Gothic"/>
                  <a:ea typeface="ITC Avant Garde Gothic"/>
                  <a:cs typeface="ITC Avant Garde Gothic"/>
                  <a:sym typeface="ITC Avant Garde Gothic"/>
                </a:rPr>
                <a:t>AI Integration</a:t>
              </a:r>
            </a:p>
          </p:txBody>
        </p:sp>
      </p:grpSp>
      <p:sp>
        <p:nvSpPr>
          <p:cNvPr name="Freeform 12" id="12"/>
          <p:cNvSpPr/>
          <p:nvPr/>
        </p:nvSpPr>
        <p:spPr>
          <a:xfrm flipH="false" flipV="false" rot="0">
            <a:off x="-242992" y="7730509"/>
            <a:ext cx="1791957" cy="1791957"/>
          </a:xfrm>
          <a:custGeom>
            <a:avLst/>
            <a:gdLst/>
            <a:ahLst/>
            <a:cxnLst/>
            <a:rect r="r" b="b" t="t" l="l"/>
            <a:pathLst>
              <a:path h="1791957" w="1791957">
                <a:moveTo>
                  <a:pt x="0" y="0"/>
                </a:moveTo>
                <a:lnTo>
                  <a:pt x="1791957" y="0"/>
                </a:lnTo>
                <a:lnTo>
                  <a:pt x="1791957"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284351" y="7730509"/>
            <a:ext cx="1791957" cy="1791957"/>
          </a:xfrm>
          <a:custGeom>
            <a:avLst/>
            <a:gdLst/>
            <a:ahLst/>
            <a:cxnLst/>
            <a:rect r="r" b="b" t="t" l="l"/>
            <a:pathLst>
              <a:path h="1791957" w="1791957">
                <a:moveTo>
                  <a:pt x="0" y="0"/>
                </a:moveTo>
                <a:lnTo>
                  <a:pt x="1791957" y="0"/>
                </a:lnTo>
                <a:lnTo>
                  <a:pt x="1791957"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2811704" y="7730509"/>
            <a:ext cx="1791957" cy="1791957"/>
          </a:xfrm>
          <a:custGeom>
            <a:avLst/>
            <a:gdLst/>
            <a:ahLst/>
            <a:cxnLst/>
            <a:rect r="r" b="b" t="t" l="l"/>
            <a:pathLst>
              <a:path h="1791957" w="1791957">
                <a:moveTo>
                  <a:pt x="0" y="0"/>
                </a:moveTo>
                <a:lnTo>
                  <a:pt x="1791957" y="0"/>
                </a:lnTo>
                <a:lnTo>
                  <a:pt x="1791957"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E1F2F"/>
        </a:solidFill>
      </p:bgPr>
    </p:bg>
    <p:spTree>
      <p:nvGrpSpPr>
        <p:cNvPr id="1" name=""/>
        <p:cNvGrpSpPr/>
        <p:nvPr/>
      </p:nvGrpSpPr>
      <p:grpSpPr>
        <a:xfrm>
          <a:off x="0" y="0"/>
          <a:ext cx="0" cy="0"/>
          <a:chOff x="0" y="0"/>
          <a:chExt cx="0" cy="0"/>
        </a:xfrm>
      </p:grpSpPr>
      <p:grpSp>
        <p:nvGrpSpPr>
          <p:cNvPr name="Group 2" id="2"/>
          <p:cNvGrpSpPr/>
          <p:nvPr/>
        </p:nvGrpSpPr>
        <p:grpSpPr>
          <a:xfrm rot="0">
            <a:off x="1028700" y="565649"/>
            <a:ext cx="6532678" cy="1698600"/>
            <a:chOff x="0" y="0"/>
            <a:chExt cx="8710237" cy="2264799"/>
          </a:xfrm>
        </p:grpSpPr>
        <p:sp>
          <p:nvSpPr>
            <p:cNvPr name="TextBox 3" id="3"/>
            <p:cNvSpPr txBox="true"/>
            <p:nvPr/>
          </p:nvSpPr>
          <p:spPr>
            <a:xfrm rot="0">
              <a:off x="0" y="-9525"/>
              <a:ext cx="8710237" cy="1626658"/>
            </a:xfrm>
            <a:prstGeom prst="rect">
              <a:avLst/>
            </a:prstGeom>
          </p:spPr>
          <p:txBody>
            <a:bodyPr anchor="t" rtlCol="false" tIns="0" lIns="0" bIns="0" rIns="0">
              <a:spAutoFit/>
            </a:bodyPr>
            <a:lstStyle/>
            <a:p>
              <a:pPr algn="l">
                <a:lnSpc>
                  <a:spcPts val="8000"/>
                </a:lnSpc>
              </a:pPr>
              <a:r>
                <a:rPr lang="en-US" sz="8000" spc="-240">
                  <a:solidFill>
                    <a:srgbClr val="FFFFFF"/>
                  </a:solidFill>
                  <a:latin typeface="ITC Avant Garde Gothic"/>
                  <a:ea typeface="ITC Avant Garde Gothic"/>
                  <a:cs typeface="ITC Avant Garde Gothic"/>
                  <a:sym typeface="ITC Avant Garde Gothic"/>
                </a:rPr>
                <a:t>Data Plan</a:t>
              </a:r>
            </a:p>
          </p:txBody>
        </p:sp>
        <p:sp>
          <p:nvSpPr>
            <p:cNvPr name="TextBox 4" id="4"/>
            <p:cNvSpPr txBox="true"/>
            <p:nvPr/>
          </p:nvSpPr>
          <p:spPr>
            <a:xfrm rot="0">
              <a:off x="0" y="1550458"/>
              <a:ext cx="8710237" cy="714341"/>
            </a:xfrm>
            <a:prstGeom prst="rect">
              <a:avLst/>
            </a:prstGeom>
          </p:spPr>
          <p:txBody>
            <a:bodyPr anchor="t" rtlCol="false" tIns="0" lIns="0" bIns="0" rIns="0">
              <a:spAutoFit/>
            </a:bodyPr>
            <a:lstStyle/>
            <a:p>
              <a:pPr algn="l">
                <a:lnSpc>
                  <a:spcPts val="3839"/>
                </a:lnSpc>
              </a:pPr>
              <a:r>
                <a:rPr lang="en-US" sz="3199" spc="-95">
                  <a:solidFill>
                    <a:srgbClr val="A0AEC0"/>
                  </a:solidFill>
                  <a:latin typeface="ITC Avant Garde Gothic"/>
                  <a:ea typeface="ITC Avant Garde Gothic"/>
                  <a:cs typeface="ITC Avant Garde Gothic"/>
                  <a:sym typeface="ITC Avant Garde Gothic"/>
                </a:rPr>
                <a:t>Under the hood deep dive</a:t>
              </a:r>
            </a:p>
          </p:txBody>
        </p:sp>
      </p:grpSp>
      <p:sp>
        <p:nvSpPr>
          <p:cNvPr name="TextBox 5" id="5"/>
          <p:cNvSpPr txBox="true"/>
          <p:nvPr/>
        </p:nvSpPr>
        <p:spPr>
          <a:xfrm rot="0">
            <a:off x="1028700" y="2952750"/>
            <a:ext cx="9083467" cy="6305550"/>
          </a:xfrm>
          <a:prstGeom prst="rect">
            <a:avLst/>
          </a:prstGeom>
        </p:spPr>
        <p:txBody>
          <a:bodyPr anchor="t" rtlCol="false" tIns="0" lIns="0" bIns="0" rIns="0">
            <a:spAutoFit/>
          </a:bodyPr>
          <a:lstStyle/>
          <a:p>
            <a:pPr algn="l" marL="539534" indent="-269767" lvl="1">
              <a:lnSpc>
                <a:spcPts val="2998"/>
              </a:lnSpc>
              <a:buFont typeface="Arial"/>
              <a:buChar char="•"/>
            </a:pPr>
            <a:r>
              <a:rPr lang="en-US" b="true" sz="2499">
                <a:solidFill>
                  <a:srgbClr val="FFFFFF"/>
                </a:solidFill>
                <a:latin typeface="TT Fors Bold"/>
                <a:ea typeface="TT Fors Bold"/>
                <a:cs typeface="TT Fors Bold"/>
                <a:sym typeface="TT Fors Bold"/>
              </a:rPr>
              <a:t>Source: </a:t>
            </a:r>
            <a:r>
              <a:rPr lang="en-US" sz="2499">
                <a:solidFill>
                  <a:srgbClr val="FFFFFF"/>
                </a:solidFill>
                <a:latin typeface="TT Fors"/>
                <a:ea typeface="TT Fors"/>
                <a:cs typeface="TT Fors"/>
                <a:sym typeface="TT Fors"/>
              </a:rPr>
              <a:t>Custom-curated library of 30+ style-specific prompts for architectural consistency.</a:t>
            </a:r>
          </a:p>
          <a:p>
            <a:pPr algn="l">
              <a:lnSpc>
                <a:spcPts val="2998"/>
              </a:lnSpc>
            </a:pPr>
          </a:p>
          <a:p>
            <a:pPr algn="l" marL="539534" indent="-269767" lvl="1">
              <a:lnSpc>
                <a:spcPts val="2998"/>
              </a:lnSpc>
              <a:buFont typeface="Arial"/>
              <a:buChar char="•"/>
            </a:pPr>
            <a:r>
              <a:rPr lang="en-US" b="true" sz="2499">
                <a:solidFill>
                  <a:srgbClr val="FFFFFF"/>
                </a:solidFill>
                <a:latin typeface="TT Fors Bold"/>
                <a:ea typeface="TT Fors Bold"/>
                <a:cs typeface="TT Fors Bold"/>
                <a:sym typeface="TT Fors Bold"/>
              </a:rPr>
              <a:t>Input Data:</a:t>
            </a:r>
            <a:r>
              <a:rPr lang="en-US" sz="2499">
                <a:solidFill>
                  <a:srgbClr val="FFFFFF"/>
                </a:solidFill>
                <a:latin typeface="TT Fors"/>
                <a:ea typeface="TT Fors"/>
                <a:cs typeface="TT Fors"/>
                <a:sym typeface="TT Fors"/>
              </a:rPr>
              <a:t> High-resolution room photos (JPG, PNG, WebP) converted to signed URLs via Replit Object Storage.</a:t>
            </a:r>
          </a:p>
          <a:p>
            <a:pPr algn="l">
              <a:lnSpc>
                <a:spcPts val="2998"/>
              </a:lnSpc>
            </a:pPr>
          </a:p>
          <a:p>
            <a:pPr algn="l" marL="539534" indent="-269767" lvl="1">
              <a:lnSpc>
                <a:spcPts val="2998"/>
              </a:lnSpc>
              <a:buFont typeface="Arial"/>
              <a:buChar char="•"/>
            </a:pPr>
            <a:r>
              <a:rPr lang="en-US" b="true" sz="2499">
                <a:solidFill>
                  <a:srgbClr val="FFFFFF"/>
                </a:solidFill>
                <a:latin typeface="TT Fors Bold"/>
                <a:ea typeface="TT Fors Bold"/>
                <a:cs typeface="TT Fors Bold"/>
                <a:sym typeface="TT Fors Bold"/>
              </a:rPr>
              <a:t>Size:</a:t>
            </a:r>
            <a:r>
              <a:rPr lang="en-US" sz="2499">
                <a:solidFill>
                  <a:srgbClr val="FFFFFF"/>
                </a:solidFill>
                <a:latin typeface="TT Fors"/>
                <a:ea typeface="TT Fors"/>
                <a:cs typeface="TT Fors"/>
                <a:sym typeface="TT Fors"/>
              </a:rPr>
              <a:t> Tested on 6 primary indoor room types (Living, Bedroom, Kitchen, Bathroom, Dining, Office) and specialized outdoor/garage categories.</a:t>
            </a:r>
          </a:p>
          <a:p>
            <a:pPr algn="l">
              <a:lnSpc>
                <a:spcPts val="2998"/>
              </a:lnSpc>
            </a:pPr>
          </a:p>
          <a:p>
            <a:pPr algn="l" marL="539534" indent="-269767" lvl="1">
              <a:lnSpc>
                <a:spcPts val="2998"/>
              </a:lnSpc>
              <a:buFont typeface="Arial"/>
              <a:buChar char="•"/>
            </a:pPr>
            <a:r>
              <a:rPr lang="en-US" b="true" sz="2499">
                <a:solidFill>
                  <a:srgbClr val="FFFFFF"/>
                </a:solidFill>
                <a:latin typeface="TT Fors Bold"/>
                <a:ea typeface="TT Fors Bold"/>
                <a:cs typeface="TT Fors Bold"/>
                <a:sym typeface="TT Fors Bold"/>
              </a:rPr>
              <a:t>Style Variants:</a:t>
            </a:r>
            <a:r>
              <a:rPr lang="en-US" sz="2499">
                <a:solidFill>
                  <a:srgbClr val="FFFFFF"/>
                </a:solidFill>
                <a:latin typeface="TT Fors"/>
                <a:ea typeface="TT Fors"/>
                <a:cs typeface="TT Fors"/>
                <a:sym typeface="TT Fors"/>
              </a:rPr>
              <a:t> Each room type linked to 5 design styles: Modern, Contemporary, Rustic, Minimalist, Traditional.</a:t>
            </a:r>
          </a:p>
          <a:p>
            <a:pPr algn="l">
              <a:lnSpc>
                <a:spcPts val="2998"/>
              </a:lnSpc>
            </a:pPr>
          </a:p>
          <a:p>
            <a:pPr algn="l" marL="539534" indent="-269767" lvl="1">
              <a:lnSpc>
                <a:spcPts val="2998"/>
              </a:lnSpc>
              <a:buFont typeface="Arial"/>
              <a:buChar char="•"/>
            </a:pPr>
            <a:r>
              <a:rPr lang="en-US" b="true" sz="2499">
                <a:solidFill>
                  <a:srgbClr val="FFFFFF"/>
                </a:solidFill>
                <a:latin typeface="TT Fors Bold"/>
                <a:ea typeface="TT Fors Bold"/>
                <a:cs typeface="TT Fors Bold"/>
                <a:sym typeface="TT Fors Bold"/>
              </a:rPr>
              <a:t>Labels/Metadata:</a:t>
            </a:r>
            <a:r>
              <a:rPr lang="en-US" sz="2499">
                <a:solidFill>
                  <a:srgbClr val="FFFFFF"/>
                </a:solidFill>
                <a:latin typeface="TT Fors"/>
                <a:ea typeface="TT Fors"/>
                <a:cs typeface="TT Fors"/>
                <a:sym typeface="TT Fors"/>
              </a:rPr>
              <a:t> Staging requests tagged with a unique Job ID in a PostgreSQL (Neon) database to track room types and styles.</a:t>
            </a:r>
          </a:p>
        </p:txBody>
      </p:sp>
      <p:grpSp>
        <p:nvGrpSpPr>
          <p:cNvPr name="Group 6" id="6"/>
          <p:cNvGrpSpPr/>
          <p:nvPr/>
        </p:nvGrpSpPr>
        <p:grpSpPr>
          <a:xfrm rot="0">
            <a:off x="10734675" y="0"/>
            <a:ext cx="7553325" cy="10287000"/>
            <a:chOff x="0" y="0"/>
            <a:chExt cx="10071100" cy="13716000"/>
          </a:xfrm>
        </p:grpSpPr>
        <p:sp>
          <p:nvSpPr>
            <p:cNvPr name="Freeform 7" id="7"/>
            <p:cNvSpPr/>
            <p:nvPr/>
          </p:nvSpPr>
          <p:spPr>
            <a:xfrm flipH="false" flipV="false" rot="0">
              <a:off x="0" y="0"/>
              <a:ext cx="10071100" cy="13716000"/>
            </a:xfrm>
            <a:custGeom>
              <a:avLst/>
              <a:gdLst/>
              <a:ahLst/>
              <a:cxnLst/>
              <a:rect r="r" b="b" t="t" l="l"/>
              <a:pathLst>
                <a:path h="13716000" w="10071100">
                  <a:moveTo>
                    <a:pt x="0" y="0"/>
                  </a:moveTo>
                  <a:lnTo>
                    <a:pt x="10071100" y="0"/>
                  </a:lnTo>
                  <a:lnTo>
                    <a:pt x="10071100" y="13716000"/>
                  </a:lnTo>
                  <a:lnTo>
                    <a:pt x="0" y="13716000"/>
                  </a:lnTo>
                  <a:close/>
                </a:path>
              </a:pathLst>
            </a:custGeom>
            <a:blipFill>
              <a:blip r:embed="rId2"/>
              <a:stretch>
                <a:fillRect l="0" t="-193" r="0" b="-193"/>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53754"/>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549920"/>
            <a:ext cx="8565228" cy="5708380"/>
          </a:xfrm>
          <a:custGeom>
            <a:avLst/>
            <a:gdLst/>
            <a:ahLst/>
            <a:cxnLst/>
            <a:rect r="r" b="b" t="t" l="l"/>
            <a:pathLst>
              <a:path h="5708380" w="8565228">
                <a:moveTo>
                  <a:pt x="0" y="0"/>
                </a:moveTo>
                <a:lnTo>
                  <a:pt x="8565228" y="0"/>
                </a:lnTo>
                <a:lnTo>
                  <a:pt x="8565228" y="5708380"/>
                </a:lnTo>
                <a:lnTo>
                  <a:pt x="0" y="5708380"/>
                </a:lnTo>
                <a:lnTo>
                  <a:pt x="0" y="0"/>
                </a:lnTo>
                <a:close/>
              </a:path>
            </a:pathLst>
          </a:custGeom>
          <a:blipFill>
            <a:blip r:embed="rId2"/>
            <a:stretch>
              <a:fillRect l="0" t="-2594" r="0" b="0"/>
            </a:stretch>
          </a:blipFill>
        </p:spPr>
      </p:sp>
      <p:grpSp>
        <p:nvGrpSpPr>
          <p:cNvPr name="Group 3" id="3"/>
          <p:cNvGrpSpPr/>
          <p:nvPr/>
        </p:nvGrpSpPr>
        <p:grpSpPr>
          <a:xfrm rot="0">
            <a:off x="1028700" y="1230729"/>
            <a:ext cx="8115300" cy="1790673"/>
            <a:chOff x="0" y="0"/>
            <a:chExt cx="10820400" cy="2387564"/>
          </a:xfrm>
        </p:grpSpPr>
        <p:sp>
          <p:nvSpPr>
            <p:cNvPr name="TextBox 4" id="4"/>
            <p:cNvSpPr txBox="true"/>
            <p:nvPr/>
          </p:nvSpPr>
          <p:spPr>
            <a:xfrm rot="0">
              <a:off x="0" y="-9525"/>
              <a:ext cx="10820400" cy="1626658"/>
            </a:xfrm>
            <a:prstGeom prst="rect">
              <a:avLst/>
            </a:prstGeom>
          </p:spPr>
          <p:txBody>
            <a:bodyPr anchor="t" rtlCol="false" tIns="0" lIns="0" bIns="0" rIns="0">
              <a:spAutoFit/>
            </a:bodyPr>
            <a:lstStyle/>
            <a:p>
              <a:pPr algn="l">
                <a:lnSpc>
                  <a:spcPts val="8000"/>
                </a:lnSpc>
              </a:pPr>
              <a:r>
                <a:rPr lang="en-US" sz="8000" spc="-240">
                  <a:solidFill>
                    <a:srgbClr val="FFFFFF"/>
                  </a:solidFill>
                  <a:latin typeface="ITC Avant Garde Gothic"/>
                  <a:ea typeface="ITC Avant Garde Gothic"/>
                  <a:cs typeface="ITC Avant Garde Gothic"/>
                  <a:sym typeface="ITC Avant Garde Gothic"/>
                </a:rPr>
                <a:t>System Design</a:t>
              </a:r>
            </a:p>
          </p:txBody>
        </p:sp>
        <p:sp>
          <p:nvSpPr>
            <p:cNvPr name="TextBox 5" id="5"/>
            <p:cNvSpPr txBox="true"/>
            <p:nvPr/>
          </p:nvSpPr>
          <p:spPr>
            <a:xfrm rot="0">
              <a:off x="0" y="1673223"/>
              <a:ext cx="10820400" cy="714341"/>
            </a:xfrm>
            <a:prstGeom prst="rect">
              <a:avLst/>
            </a:prstGeom>
          </p:spPr>
          <p:txBody>
            <a:bodyPr anchor="t" rtlCol="false" tIns="0" lIns="0" bIns="0" rIns="0">
              <a:spAutoFit/>
            </a:bodyPr>
            <a:lstStyle/>
            <a:p>
              <a:pPr algn="l">
                <a:lnSpc>
                  <a:spcPts val="3839"/>
                </a:lnSpc>
              </a:pPr>
              <a:r>
                <a:rPr lang="en-US" sz="3199" spc="-95">
                  <a:solidFill>
                    <a:srgbClr val="A0AEC0"/>
                  </a:solidFill>
                  <a:latin typeface="ITC Avant Garde Gothic"/>
                  <a:ea typeface="ITC Avant Garde Gothic"/>
                  <a:cs typeface="ITC Avant Garde Gothic"/>
                  <a:sym typeface="ITC Avant Garde Gothic"/>
                </a:rPr>
                <a:t>Key Concepts for Quality and Integrity in AI</a:t>
              </a:r>
            </a:p>
          </p:txBody>
        </p:sp>
      </p:grpSp>
      <p:grpSp>
        <p:nvGrpSpPr>
          <p:cNvPr name="Group 6" id="6"/>
          <p:cNvGrpSpPr/>
          <p:nvPr/>
        </p:nvGrpSpPr>
        <p:grpSpPr>
          <a:xfrm rot="0">
            <a:off x="10372725" y="1432945"/>
            <a:ext cx="6886575" cy="2302535"/>
            <a:chOff x="0" y="0"/>
            <a:chExt cx="9182100" cy="3070047"/>
          </a:xfrm>
        </p:grpSpPr>
        <p:sp>
          <p:nvSpPr>
            <p:cNvPr name="TextBox 7" id="7"/>
            <p:cNvSpPr txBox="true"/>
            <p:nvPr/>
          </p:nvSpPr>
          <p:spPr>
            <a:xfrm rot="0">
              <a:off x="0" y="741718"/>
              <a:ext cx="9182100" cy="2328329"/>
            </a:xfrm>
            <a:prstGeom prst="rect">
              <a:avLst/>
            </a:prstGeom>
          </p:spPr>
          <p:txBody>
            <a:bodyPr anchor="t" rtlCol="false" tIns="0" lIns="0" bIns="0" rIns="0">
              <a:spAutoFit/>
            </a:bodyPr>
            <a:lstStyle/>
            <a:p>
              <a:pPr algn="l">
                <a:lnSpc>
                  <a:spcPts val="3499"/>
                </a:lnSpc>
              </a:pPr>
              <a:r>
                <a:rPr lang="en-US" sz="2499">
                  <a:solidFill>
                    <a:srgbClr val="FFFFFF"/>
                  </a:solidFill>
                  <a:latin typeface="TT Fors"/>
                  <a:ea typeface="TT Fors"/>
                  <a:cs typeface="TT Fors"/>
                  <a:sym typeface="TT Fors"/>
                </a:rPr>
                <a:t>The </a:t>
              </a:r>
              <a:r>
                <a:rPr lang="en-US" sz="2499" b="true">
                  <a:solidFill>
                    <a:srgbClr val="FFFFFF"/>
                  </a:solidFill>
                  <a:latin typeface="TT Fors Bold"/>
                  <a:ea typeface="TT Fors Bold"/>
                  <a:cs typeface="TT Fors Bold"/>
                  <a:sym typeface="TT Fors Bold"/>
                </a:rPr>
                <a:t>style matrix</a:t>
              </a:r>
              <a:r>
                <a:rPr lang="en-US" sz="2499">
                  <a:solidFill>
                    <a:srgbClr val="FFFFFF"/>
                  </a:solidFill>
                  <a:latin typeface="TT Fors"/>
                  <a:ea typeface="TT Fors"/>
                  <a:cs typeface="TT Fors"/>
                  <a:sym typeface="TT Fors"/>
                </a:rPr>
                <a:t> offers over 30 combinations, facilitating diverse room types and styles for accurate staging representations across various settings.</a:t>
              </a:r>
            </a:p>
          </p:txBody>
        </p:sp>
        <p:sp>
          <p:nvSpPr>
            <p:cNvPr name="TextBox 8" id="8"/>
            <p:cNvSpPr txBox="true"/>
            <p:nvPr/>
          </p:nvSpPr>
          <p:spPr>
            <a:xfrm rot="0">
              <a:off x="0" y="-104775"/>
              <a:ext cx="9182100" cy="719493"/>
            </a:xfrm>
            <a:prstGeom prst="rect">
              <a:avLst/>
            </a:prstGeom>
          </p:spPr>
          <p:txBody>
            <a:bodyPr anchor="t" rtlCol="false" tIns="0" lIns="0" bIns="0" rIns="0">
              <a:spAutoFit/>
            </a:bodyPr>
            <a:lstStyle/>
            <a:p>
              <a:pPr algn="l">
                <a:lnSpc>
                  <a:spcPts val="3594"/>
                </a:lnSpc>
              </a:pPr>
              <a:r>
                <a:rPr lang="en-US" sz="2567" spc="-77">
                  <a:solidFill>
                    <a:srgbClr val="FFFFFF"/>
                  </a:solidFill>
                  <a:latin typeface="ITC Avant Garde Gothic"/>
                  <a:ea typeface="ITC Avant Garde Gothic"/>
                  <a:cs typeface="ITC Avant Garde Gothic"/>
                  <a:sym typeface="ITC Avant Garde Gothic"/>
                </a:rPr>
                <a:t>Style Matrix</a:t>
              </a:r>
            </a:p>
          </p:txBody>
        </p:sp>
      </p:grpSp>
      <p:grpSp>
        <p:nvGrpSpPr>
          <p:cNvPr name="Group 9" id="9"/>
          <p:cNvGrpSpPr/>
          <p:nvPr/>
        </p:nvGrpSpPr>
        <p:grpSpPr>
          <a:xfrm rot="0">
            <a:off x="10372725" y="4202205"/>
            <a:ext cx="6886575" cy="2320414"/>
            <a:chOff x="0" y="0"/>
            <a:chExt cx="9182100" cy="3093885"/>
          </a:xfrm>
        </p:grpSpPr>
        <p:sp>
          <p:nvSpPr>
            <p:cNvPr name="TextBox 10" id="10"/>
            <p:cNvSpPr txBox="true"/>
            <p:nvPr/>
          </p:nvSpPr>
          <p:spPr>
            <a:xfrm rot="0">
              <a:off x="0" y="765556"/>
              <a:ext cx="9182100" cy="2328329"/>
            </a:xfrm>
            <a:prstGeom prst="rect">
              <a:avLst/>
            </a:prstGeom>
          </p:spPr>
          <p:txBody>
            <a:bodyPr anchor="t" rtlCol="false" tIns="0" lIns="0" bIns="0" rIns="0">
              <a:spAutoFit/>
            </a:bodyPr>
            <a:lstStyle/>
            <a:p>
              <a:pPr algn="l">
                <a:lnSpc>
                  <a:spcPts val="3499"/>
                </a:lnSpc>
              </a:pPr>
              <a:r>
                <a:rPr lang="en-US" sz="2499">
                  <a:solidFill>
                    <a:srgbClr val="FFFFFF"/>
                  </a:solidFill>
                  <a:latin typeface="TT Fors"/>
                  <a:ea typeface="TT Fors"/>
                  <a:cs typeface="TT Fors"/>
                  <a:sym typeface="TT Fors"/>
                </a:rPr>
                <a:t>Our </a:t>
              </a:r>
              <a:r>
                <a:rPr lang="en-US" sz="2499" b="true">
                  <a:solidFill>
                    <a:srgbClr val="FFFFFF"/>
                  </a:solidFill>
                  <a:latin typeface="TT Fors Bold"/>
                  <a:ea typeface="TT Fors Bold"/>
                  <a:cs typeface="TT Fors Bold"/>
                  <a:sym typeface="TT Fors Bold"/>
                </a:rPr>
                <a:t>additive patterns</a:t>
              </a:r>
              <a:r>
                <a:rPr lang="en-US" sz="2499">
                  <a:solidFill>
                    <a:srgbClr val="FFFFFF"/>
                  </a:solidFill>
                  <a:latin typeface="TT Fors"/>
                  <a:ea typeface="TT Fors"/>
                  <a:cs typeface="TT Fors"/>
                  <a:sym typeface="TT Fors"/>
                </a:rPr>
                <a:t> effectively ignore walls, windows, and floors, ensuring furniture is placed seamlessly without altering the room's original structure.</a:t>
              </a:r>
            </a:p>
          </p:txBody>
        </p:sp>
        <p:sp>
          <p:nvSpPr>
            <p:cNvPr name="TextBox 11" id="11"/>
            <p:cNvSpPr txBox="true"/>
            <p:nvPr/>
          </p:nvSpPr>
          <p:spPr>
            <a:xfrm rot="0">
              <a:off x="0" y="-104775"/>
              <a:ext cx="9182100" cy="719493"/>
            </a:xfrm>
            <a:prstGeom prst="rect">
              <a:avLst/>
            </a:prstGeom>
          </p:spPr>
          <p:txBody>
            <a:bodyPr anchor="t" rtlCol="false" tIns="0" lIns="0" bIns="0" rIns="0">
              <a:spAutoFit/>
            </a:bodyPr>
            <a:lstStyle/>
            <a:p>
              <a:pPr algn="l">
                <a:lnSpc>
                  <a:spcPts val="3594"/>
                </a:lnSpc>
              </a:pPr>
              <a:r>
                <a:rPr lang="en-US" sz="2567" spc="-77">
                  <a:solidFill>
                    <a:srgbClr val="FFFFFF"/>
                  </a:solidFill>
                  <a:latin typeface="ITC Avant Garde Gothic"/>
                  <a:ea typeface="ITC Avant Garde Gothic"/>
                  <a:cs typeface="ITC Avant Garde Gothic"/>
                  <a:sym typeface="ITC Avant Garde Gothic"/>
                </a:rPr>
                <a:t>Additive Patterns</a:t>
              </a:r>
            </a:p>
          </p:txBody>
        </p:sp>
      </p:grpSp>
      <p:grpSp>
        <p:nvGrpSpPr>
          <p:cNvPr name="Group 12" id="12"/>
          <p:cNvGrpSpPr/>
          <p:nvPr/>
        </p:nvGrpSpPr>
        <p:grpSpPr>
          <a:xfrm rot="0">
            <a:off x="10372725" y="6986777"/>
            <a:ext cx="6886575" cy="2271523"/>
            <a:chOff x="0" y="0"/>
            <a:chExt cx="9182100" cy="3028697"/>
          </a:xfrm>
        </p:grpSpPr>
        <p:sp>
          <p:nvSpPr>
            <p:cNvPr name="TextBox 13" id="13"/>
            <p:cNvSpPr txBox="true"/>
            <p:nvPr/>
          </p:nvSpPr>
          <p:spPr>
            <a:xfrm rot="0">
              <a:off x="0" y="738498"/>
              <a:ext cx="9182100" cy="2290199"/>
            </a:xfrm>
            <a:prstGeom prst="rect">
              <a:avLst/>
            </a:prstGeom>
          </p:spPr>
          <p:txBody>
            <a:bodyPr anchor="t" rtlCol="false" tIns="0" lIns="0" bIns="0" rIns="0">
              <a:spAutoFit/>
            </a:bodyPr>
            <a:lstStyle/>
            <a:p>
              <a:pPr algn="l">
                <a:lnSpc>
                  <a:spcPts val="3499"/>
                </a:lnSpc>
              </a:pPr>
              <a:r>
                <a:rPr lang="en-US" sz="2499">
                  <a:solidFill>
                    <a:srgbClr val="FFFFFF"/>
                  </a:solidFill>
                  <a:latin typeface="TT Fors"/>
                  <a:ea typeface="TT Fors"/>
                  <a:cs typeface="TT Fors"/>
                  <a:sym typeface="TT Fors"/>
                </a:rPr>
                <a:t>Established </a:t>
              </a:r>
              <a:r>
                <a:rPr lang="en-US" sz="2499" b="true">
                  <a:solidFill>
                    <a:srgbClr val="FFFFFF"/>
                  </a:solidFill>
                  <a:latin typeface="TT Fors Bold"/>
                  <a:ea typeface="TT Fors Bold"/>
                  <a:cs typeface="TT Fors Bold"/>
                  <a:sym typeface="TT Fors Bold"/>
                </a:rPr>
                <a:t>structural integrity rules</a:t>
              </a:r>
              <a:r>
                <a:rPr lang="en-US" sz="2499">
                  <a:solidFill>
                    <a:srgbClr val="FFFFFF"/>
                  </a:solidFill>
                  <a:latin typeface="TT Fors"/>
                  <a:ea typeface="TT Fors"/>
                  <a:cs typeface="TT Fors"/>
                  <a:sym typeface="TT Fors"/>
                </a:rPr>
                <a:t> prevent architectural hallucinations, ensuring realistic outcomes that maintain the original design and layout of the space.</a:t>
              </a:r>
            </a:p>
          </p:txBody>
        </p:sp>
        <p:sp>
          <p:nvSpPr>
            <p:cNvPr name="TextBox 14" id="14"/>
            <p:cNvSpPr txBox="true"/>
            <p:nvPr/>
          </p:nvSpPr>
          <p:spPr>
            <a:xfrm rot="0">
              <a:off x="0" y="-104775"/>
              <a:ext cx="9182100" cy="719493"/>
            </a:xfrm>
            <a:prstGeom prst="rect">
              <a:avLst/>
            </a:prstGeom>
          </p:spPr>
          <p:txBody>
            <a:bodyPr anchor="t" rtlCol="false" tIns="0" lIns="0" bIns="0" rIns="0">
              <a:spAutoFit/>
            </a:bodyPr>
            <a:lstStyle/>
            <a:p>
              <a:pPr algn="l">
                <a:lnSpc>
                  <a:spcPts val="3594"/>
                </a:lnSpc>
              </a:pPr>
              <a:r>
                <a:rPr lang="en-US" sz="2567" spc="-77">
                  <a:solidFill>
                    <a:srgbClr val="FFFFFF"/>
                  </a:solidFill>
                  <a:latin typeface="ITC Avant Garde Gothic"/>
                  <a:ea typeface="ITC Avant Garde Gothic"/>
                  <a:cs typeface="ITC Avant Garde Gothic"/>
                  <a:sym typeface="ITC Avant Garde Gothic"/>
                </a:rPr>
                <a:t>Integrity Rules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E1F2F"/>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3160636" cy="1698600"/>
            <a:chOff x="0" y="0"/>
            <a:chExt cx="17547515" cy="2264799"/>
          </a:xfrm>
        </p:grpSpPr>
        <p:sp>
          <p:nvSpPr>
            <p:cNvPr name="TextBox 3" id="3"/>
            <p:cNvSpPr txBox="true"/>
            <p:nvPr/>
          </p:nvSpPr>
          <p:spPr>
            <a:xfrm rot="0">
              <a:off x="0" y="-9525"/>
              <a:ext cx="9614165" cy="1626658"/>
            </a:xfrm>
            <a:prstGeom prst="rect">
              <a:avLst/>
            </a:prstGeom>
          </p:spPr>
          <p:txBody>
            <a:bodyPr anchor="t" rtlCol="false" tIns="0" lIns="0" bIns="0" rIns="0">
              <a:spAutoFit/>
            </a:bodyPr>
            <a:lstStyle/>
            <a:p>
              <a:pPr algn="l">
                <a:lnSpc>
                  <a:spcPts val="8000"/>
                </a:lnSpc>
              </a:pPr>
              <a:r>
                <a:rPr lang="en-US" sz="8000" spc="-240">
                  <a:solidFill>
                    <a:srgbClr val="FFFFFF"/>
                  </a:solidFill>
                  <a:latin typeface="ITC Avant Garde Gothic"/>
                  <a:ea typeface="ITC Avant Garde Gothic"/>
                  <a:cs typeface="ITC Avant Garde Gothic"/>
                  <a:sym typeface="ITC Avant Garde Gothic"/>
                </a:rPr>
                <a:t>Success Metrics</a:t>
              </a:r>
            </a:p>
          </p:txBody>
        </p:sp>
        <p:sp>
          <p:nvSpPr>
            <p:cNvPr name="TextBox 4" id="4"/>
            <p:cNvSpPr txBox="true"/>
            <p:nvPr/>
          </p:nvSpPr>
          <p:spPr>
            <a:xfrm rot="0">
              <a:off x="0" y="1550458"/>
              <a:ext cx="17547515" cy="714341"/>
            </a:xfrm>
            <a:prstGeom prst="rect">
              <a:avLst/>
            </a:prstGeom>
          </p:spPr>
          <p:txBody>
            <a:bodyPr anchor="t" rtlCol="false" tIns="0" lIns="0" bIns="0" rIns="0">
              <a:spAutoFit/>
            </a:bodyPr>
            <a:lstStyle/>
            <a:p>
              <a:pPr algn="l">
                <a:lnSpc>
                  <a:spcPts val="3839"/>
                </a:lnSpc>
              </a:pPr>
              <a:r>
                <a:rPr lang="en-US" sz="3199" spc="-95">
                  <a:solidFill>
                    <a:srgbClr val="A0AEC0"/>
                  </a:solidFill>
                  <a:latin typeface="ITC Avant Garde Gothic"/>
                  <a:ea typeface="ITC Avant Garde Gothic"/>
                  <a:cs typeface="ITC Avant Garde Gothic"/>
                  <a:sym typeface="ITC Avant Garde Gothic"/>
                </a:rPr>
                <a:t>Prov</a:t>
              </a:r>
              <a:r>
                <a:rPr lang="en-US" sz="3199" spc="-95">
                  <a:solidFill>
                    <a:srgbClr val="A0AEC0"/>
                  </a:solidFill>
                  <a:latin typeface="ITC Avant Garde Gothic"/>
                  <a:ea typeface="ITC Avant Garde Gothic"/>
                  <a:cs typeface="ITC Avant Garde Gothic"/>
                  <a:sym typeface="ITC Avant Garde Gothic"/>
                </a:rPr>
                <a:t>e the solution works and is reliable for professional real estate use.</a:t>
              </a:r>
            </a:p>
          </p:txBody>
        </p:sp>
      </p:grpSp>
      <p:sp>
        <p:nvSpPr>
          <p:cNvPr name="TextBox 5" id="5"/>
          <p:cNvSpPr txBox="true"/>
          <p:nvPr/>
        </p:nvSpPr>
        <p:spPr>
          <a:xfrm rot="0">
            <a:off x="1028700" y="3114675"/>
            <a:ext cx="15841999" cy="6143625"/>
          </a:xfrm>
          <a:prstGeom prst="rect">
            <a:avLst/>
          </a:prstGeom>
        </p:spPr>
        <p:txBody>
          <a:bodyPr anchor="t" rtlCol="false" tIns="0" lIns="0" bIns="0" rIns="0">
            <a:spAutoFit/>
          </a:bodyPr>
          <a:lstStyle/>
          <a:p>
            <a:pPr algn="l">
              <a:lnSpc>
                <a:spcPts val="3238"/>
              </a:lnSpc>
            </a:pPr>
          </a:p>
          <a:p>
            <a:pPr algn="l" marL="582713" indent="-291357" lvl="1">
              <a:lnSpc>
                <a:spcPts val="3238"/>
              </a:lnSpc>
              <a:buFont typeface="Arial"/>
              <a:buChar char="•"/>
            </a:pPr>
            <a:r>
              <a:rPr lang="en-US" b="true" sz="2698">
                <a:solidFill>
                  <a:srgbClr val="FFFFFF"/>
                </a:solidFill>
                <a:latin typeface="TT Fors Bold"/>
                <a:ea typeface="TT Fors Bold"/>
                <a:cs typeface="TT Fors Bold"/>
                <a:sym typeface="TT Fors Bold"/>
              </a:rPr>
              <a:t>Primary Metric: </a:t>
            </a:r>
            <a:r>
              <a:rPr lang="en-US" sz="2698">
                <a:solidFill>
                  <a:srgbClr val="FFFFFF"/>
                </a:solidFill>
                <a:latin typeface="TT Fors"/>
                <a:ea typeface="TT Fors"/>
                <a:cs typeface="TT Fors"/>
                <a:sym typeface="TT Fors"/>
              </a:rPr>
              <a:t>Structural Integrity (Accuracy): </a:t>
            </a:r>
            <a:r>
              <a:rPr lang="en-US" sz="2698">
                <a:solidFill>
                  <a:srgbClr val="FFFFFF"/>
                </a:solidFill>
                <a:latin typeface="TT Fors"/>
                <a:ea typeface="TT Fors"/>
                <a:cs typeface="TT Fors"/>
                <a:sym typeface="TT Fors"/>
              </a:rPr>
              <a:t>Aim for 0% errors in permanent architectural features like walls, windows, and floors.</a:t>
            </a:r>
          </a:p>
          <a:p>
            <a:pPr algn="l">
              <a:lnSpc>
                <a:spcPts val="3238"/>
              </a:lnSpc>
            </a:pPr>
          </a:p>
          <a:p>
            <a:pPr algn="l" marL="582713" indent="-291357" lvl="1">
              <a:lnSpc>
                <a:spcPts val="3238"/>
              </a:lnSpc>
              <a:buFont typeface="Arial"/>
              <a:buChar char="•"/>
            </a:pPr>
            <a:r>
              <a:rPr lang="en-US" b="true" sz="2698">
                <a:solidFill>
                  <a:srgbClr val="FFFFFF"/>
                </a:solidFill>
                <a:latin typeface="TT Fors Bold"/>
                <a:ea typeface="TT Fors Bold"/>
                <a:cs typeface="TT Fors Bold"/>
                <a:sym typeface="TT Fors Bold"/>
              </a:rPr>
              <a:t>Secondary Metric:</a:t>
            </a:r>
            <a:r>
              <a:rPr lang="en-US" sz="2698">
                <a:solidFill>
                  <a:srgbClr val="FFFFFF"/>
                </a:solidFill>
                <a:latin typeface="TT Fors"/>
                <a:ea typeface="TT Fors"/>
                <a:cs typeface="TT Fors"/>
                <a:sym typeface="TT Fors"/>
              </a:rPr>
              <a:t> Latency (Speed): </a:t>
            </a:r>
            <a:r>
              <a:rPr lang="en-US" sz="2698">
                <a:solidFill>
                  <a:srgbClr val="FFFFFF"/>
                </a:solidFill>
                <a:latin typeface="TT Fors"/>
                <a:ea typeface="TT Fors"/>
                <a:cs typeface="TT Fors"/>
                <a:sym typeface="TT Fors"/>
              </a:rPr>
              <a:t>Deliver high-resolution (1024x1024) images in under 15 seconds per request.</a:t>
            </a:r>
          </a:p>
          <a:p>
            <a:pPr algn="l">
              <a:lnSpc>
                <a:spcPts val="3238"/>
              </a:lnSpc>
            </a:pPr>
          </a:p>
          <a:p>
            <a:pPr algn="l" marL="582713" indent="-291357" lvl="1">
              <a:lnSpc>
                <a:spcPts val="3238"/>
              </a:lnSpc>
              <a:buFont typeface="Arial"/>
              <a:buChar char="•"/>
            </a:pPr>
            <a:r>
              <a:rPr lang="en-US" b="true" sz="2698">
                <a:solidFill>
                  <a:srgbClr val="FFFFFF"/>
                </a:solidFill>
                <a:latin typeface="TT Fors Bold"/>
                <a:ea typeface="TT Fors Bold"/>
                <a:cs typeface="TT Fors Bold"/>
                <a:sym typeface="TT Fors Bold"/>
              </a:rPr>
              <a:t>Qualitative Metric:</a:t>
            </a:r>
            <a:r>
              <a:rPr lang="en-US" sz="2698">
                <a:solidFill>
                  <a:srgbClr val="FFFFFF"/>
                </a:solidFill>
                <a:latin typeface="TT Fors"/>
                <a:ea typeface="TT Fors"/>
                <a:cs typeface="TT Fors"/>
                <a:sym typeface="TT Fors"/>
              </a:rPr>
              <a:t> Visual Realism: </a:t>
            </a:r>
            <a:r>
              <a:rPr lang="en-US" sz="2698">
                <a:solidFill>
                  <a:srgbClr val="FFFFFF"/>
                </a:solidFill>
                <a:latin typeface="TT Fors"/>
                <a:ea typeface="TT Fors"/>
                <a:cs typeface="TT Fors"/>
                <a:sym typeface="TT Fors"/>
              </a:rPr>
              <a:t>Ensure furniture appears grounded with natural shadows using "Additive Staging Patterns".</a:t>
            </a:r>
          </a:p>
          <a:p>
            <a:pPr algn="l">
              <a:lnSpc>
                <a:spcPts val="3238"/>
              </a:lnSpc>
            </a:pPr>
          </a:p>
          <a:p>
            <a:pPr algn="l" marL="582713" indent="-291357" lvl="1">
              <a:lnSpc>
                <a:spcPts val="3238"/>
              </a:lnSpc>
              <a:buFont typeface="Arial"/>
              <a:buChar char="•"/>
            </a:pPr>
            <a:r>
              <a:rPr lang="en-US" b="true" sz="2698">
                <a:solidFill>
                  <a:srgbClr val="FFFFFF"/>
                </a:solidFill>
                <a:latin typeface="TT Fors Bold"/>
                <a:ea typeface="TT Fors Bold"/>
                <a:cs typeface="TT Fors Bold"/>
                <a:sym typeface="TT Fors Bold"/>
              </a:rPr>
              <a:t>System Reliability:</a:t>
            </a:r>
            <a:r>
              <a:rPr lang="en-US" sz="2698">
                <a:solidFill>
                  <a:srgbClr val="FFFFFF"/>
                </a:solidFill>
                <a:latin typeface="TT Fors"/>
                <a:ea typeface="TT Fors"/>
                <a:cs typeface="TT Fors"/>
                <a:sym typeface="TT Fors"/>
              </a:rPr>
              <a:t> </a:t>
            </a:r>
            <a:r>
              <a:rPr lang="en-US" sz="2698">
                <a:solidFill>
                  <a:srgbClr val="FFFFFF"/>
                </a:solidFill>
                <a:latin typeface="TT Fors"/>
                <a:ea typeface="TT Fors"/>
                <a:cs typeface="TT Fors"/>
                <a:sym typeface="TT Fors"/>
              </a:rPr>
              <a:t>Maintain 100% uptime with an automated fallback to OpenAI’s image API if needed.</a:t>
            </a:r>
          </a:p>
          <a:p>
            <a:pPr algn="l">
              <a:lnSpc>
                <a:spcPts val="3238"/>
              </a:lnSpc>
            </a:pPr>
          </a:p>
          <a:p>
            <a:pPr algn="l" marL="582713" indent="-291357" lvl="1">
              <a:lnSpc>
                <a:spcPts val="3238"/>
              </a:lnSpc>
              <a:buFont typeface="Arial"/>
              <a:buChar char="•"/>
            </a:pPr>
            <a:r>
              <a:rPr lang="en-US" b="true" sz="2698">
                <a:solidFill>
                  <a:srgbClr val="FFFFFF"/>
                </a:solidFill>
                <a:latin typeface="TT Fors Bold"/>
                <a:ea typeface="TT Fors Bold"/>
                <a:cs typeface="TT Fors Bold"/>
                <a:sym typeface="TT Fors Bold"/>
              </a:rPr>
              <a:t>User Engagement:</a:t>
            </a:r>
            <a:r>
              <a:rPr lang="en-US" sz="2698">
                <a:solidFill>
                  <a:srgbClr val="FFFFFF"/>
                </a:solidFill>
                <a:latin typeface="TT Fors"/>
                <a:ea typeface="TT Fors"/>
                <a:cs typeface="TT Fors"/>
                <a:sym typeface="TT Fors"/>
              </a:rPr>
              <a:t> </a:t>
            </a:r>
            <a:r>
              <a:rPr lang="en-US" sz="2698">
                <a:solidFill>
                  <a:srgbClr val="FFFFFF"/>
                </a:solidFill>
                <a:latin typeface="TT Fors"/>
                <a:ea typeface="TT Fors"/>
                <a:cs typeface="TT Fors"/>
                <a:sym typeface="TT Fors"/>
              </a:rPr>
              <a:t>Track success with the Token System by measuring how many "Preview" generations lead to final user "Approval".</a:t>
            </a:r>
          </a:p>
        </p:txBody>
      </p:sp>
      <p:grpSp>
        <p:nvGrpSpPr>
          <p:cNvPr name="Group 6" id="6"/>
          <p:cNvGrpSpPr/>
          <p:nvPr/>
        </p:nvGrpSpPr>
        <p:grpSpPr>
          <a:xfrm rot="0">
            <a:off x="14447372" y="-353041"/>
            <a:ext cx="4846653" cy="1791957"/>
            <a:chOff x="0" y="0"/>
            <a:chExt cx="6462204" cy="2389276"/>
          </a:xfrm>
        </p:grpSpPr>
        <p:sp>
          <p:nvSpPr>
            <p:cNvPr name="Freeform 7" id="7"/>
            <p:cNvSpPr/>
            <p:nvPr/>
          </p:nvSpPr>
          <p:spPr>
            <a:xfrm flipH="false" flipV="false" rot="0">
              <a:off x="0" y="0"/>
              <a:ext cx="2389276" cy="2389276"/>
            </a:xfrm>
            <a:custGeom>
              <a:avLst/>
              <a:gdLst/>
              <a:ahLst/>
              <a:cxnLst/>
              <a:rect r="r" b="b" t="t" l="l"/>
              <a:pathLst>
                <a:path h="2389276" w="2389276">
                  <a:moveTo>
                    <a:pt x="0" y="0"/>
                  </a:moveTo>
                  <a:lnTo>
                    <a:pt x="2389276" y="0"/>
                  </a:lnTo>
                  <a:lnTo>
                    <a:pt x="2389276" y="2389276"/>
                  </a:lnTo>
                  <a:lnTo>
                    <a:pt x="0" y="23892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036458" y="0"/>
              <a:ext cx="2389276" cy="2389276"/>
            </a:xfrm>
            <a:custGeom>
              <a:avLst/>
              <a:gdLst/>
              <a:ahLst/>
              <a:cxnLst/>
              <a:rect r="r" b="b" t="t" l="l"/>
              <a:pathLst>
                <a:path h="2389276" w="2389276">
                  <a:moveTo>
                    <a:pt x="0" y="0"/>
                  </a:moveTo>
                  <a:lnTo>
                    <a:pt x="2389276" y="0"/>
                  </a:lnTo>
                  <a:lnTo>
                    <a:pt x="2389276" y="2389276"/>
                  </a:lnTo>
                  <a:lnTo>
                    <a:pt x="0" y="23892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072928" y="0"/>
              <a:ext cx="2389276" cy="2389276"/>
            </a:xfrm>
            <a:custGeom>
              <a:avLst/>
              <a:gdLst/>
              <a:ahLst/>
              <a:cxnLst/>
              <a:rect r="r" b="b" t="t" l="l"/>
              <a:pathLst>
                <a:path h="2389276" w="2389276">
                  <a:moveTo>
                    <a:pt x="0" y="0"/>
                  </a:moveTo>
                  <a:lnTo>
                    <a:pt x="2389277" y="0"/>
                  </a:lnTo>
                  <a:lnTo>
                    <a:pt x="2389277" y="2389276"/>
                  </a:lnTo>
                  <a:lnTo>
                    <a:pt x="0" y="23892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53754"/>
        </a:solidFill>
      </p:bgPr>
    </p:bg>
    <p:spTree>
      <p:nvGrpSpPr>
        <p:cNvPr id="1" name=""/>
        <p:cNvGrpSpPr/>
        <p:nvPr/>
      </p:nvGrpSpPr>
      <p:grpSpPr>
        <a:xfrm>
          <a:off x="0" y="0"/>
          <a:ext cx="0" cy="0"/>
          <a:chOff x="0" y="0"/>
          <a:chExt cx="0" cy="0"/>
        </a:xfrm>
      </p:grpSpPr>
      <p:grpSp>
        <p:nvGrpSpPr>
          <p:cNvPr name="Group 2" id="2"/>
          <p:cNvGrpSpPr/>
          <p:nvPr/>
        </p:nvGrpSpPr>
        <p:grpSpPr>
          <a:xfrm rot="0">
            <a:off x="686216" y="753911"/>
            <a:ext cx="8662102" cy="1883347"/>
            <a:chOff x="0" y="0"/>
            <a:chExt cx="11549469" cy="2511129"/>
          </a:xfrm>
        </p:grpSpPr>
        <p:sp>
          <p:nvSpPr>
            <p:cNvPr name="TextBox 3" id="3"/>
            <p:cNvSpPr txBox="true"/>
            <p:nvPr/>
          </p:nvSpPr>
          <p:spPr>
            <a:xfrm rot="0">
              <a:off x="0" y="-9525"/>
              <a:ext cx="11549469" cy="1626658"/>
            </a:xfrm>
            <a:prstGeom prst="rect">
              <a:avLst/>
            </a:prstGeom>
          </p:spPr>
          <p:txBody>
            <a:bodyPr anchor="t" rtlCol="false" tIns="0" lIns="0" bIns="0" rIns="0">
              <a:spAutoFit/>
            </a:bodyPr>
            <a:lstStyle/>
            <a:p>
              <a:pPr algn="l">
                <a:lnSpc>
                  <a:spcPts val="8000"/>
                </a:lnSpc>
              </a:pPr>
              <a:r>
                <a:rPr lang="en-US" sz="8000" spc="-240">
                  <a:solidFill>
                    <a:srgbClr val="FFFFFF"/>
                  </a:solidFill>
                  <a:latin typeface="ITC Avant Garde Gothic"/>
                  <a:ea typeface="ITC Avant Garde Gothic"/>
                  <a:cs typeface="ITC Avant Garde Gothic"/>
                  <a:sym typeface="ITC Avant Garde Gothic"/>
                </a:rPr>
                <a:t>Project Roadmap</a:t>
              </a:r>
            </a:p>
          </p:txBody>
        </p:sp>
        <p:sp>
          <p:nvSpPr>
            <p:cNvPr name="TextBox 4" id="4"/>
            <p:cNvSpPr txBox="true"/>
            <p:nvPr/>
          </p:nvSpPr>
          <p:spPr>
            <a:xfrm rot="0">
              <a:off x="0" y="1796788"/>
              <a:ext cx="11549469" cy="714341"/>
            </a:xfrm>
            <a:prstGeom prst="rect">
              <a:avLst/>
            </a:prstGeom>
          </p:spPr>
          <p:txBody>
            <a:bodyPr anchor="t" rtlCol="false" tIns="0" lIns="0" bIns="0" rIns="0">
              <a:spAutoFit/>
            </a:bodyPr>
            <a:lstStyle/>
            <a:p>
              <a:pPr algn="l">
                <a:lnSpc>
                  <a:spcPts val="3839"/>
                </a:lnSpc>
              </a:pPr>
              <a:r>
                <a:rPr lang="en-US" sz="3199" spc="-95">
                  <a:solidFill>
                    <a:srgbClr val="A0AEC0"/>
                  </a:solidFill>
                  <a:latin typeface="ITC Avant Garde Gothic"/>
                  <a:ea typeface="ITC Avant Garde Gothic"/>
                  <a:cs typeface="ITC Avant Garde Gothic"/>
                  <a:sym typeface="ITC Avant Garde Gothic"/>
                </a:rPr>
                <a:t>Evaluating RE.AI Solution's History </a:t>
              </a:r>
            </a:p>
          </p:txBody>
        </p:sp>
      </p:grpSp>
      <p:sp>
        <p:nvSpPr>
          <p:cNvPr name="TextBox 5" id="5"/>
          <p:cNvSpPr txBox="true"/>
          <p:nvPr/>
        </p:nvSpPr>
        <p:spPr>
          <a:xfrm rot="0">
            <a:off x="686216" y="3438525"/>
            <a:ext cx="9506889" cy="5819775"/>
          </a:xfrm>
          <a:prstGeom prst="rect">
            <a:avLst/>
          </a:prstGeom>
        </p:spPr>
        <p:txBody>
          <a:bodyPr anchor="t" rtlCol="false" tIns="0" lIns="0" bIns="0" rIns="0">
            <a:spAutoFit/>
          </a:bodyPr>
          <a:lstStyle/>
          <a:p>
            <a:pPr algn="l">
              <a:lnSpc>
                <a:spcPts val="2758"/>
              </a:lnSpc>
            </a:pPr>
            <a:r>
              <a:rPr lang="en-US" sz="2299" b="true">
                <a:solidFill>
                  <a:srgbClr val="FFFFFF"/>
                </a:solidFill>
                <a:latin typeface="TT Fors Bold"/>
                <a:ea typeface="TT Fors Bold"/>
                <a:cs typeface="TT Fors Bold"/>
                <a:sym typeface="TT Fors Bold"/>
              </a:rPr>
              <a:t>Phase 1: </a:t>
            </a:r>
            <a:r>
              <a:rPr lang="en-US" sz="2299">
                <a:solidFill>
                  <a:srgbClr val="FFFFFF"/>
                </a:solidFill>
                <a:latin typeface="TT Fors"/>
                <a:ea typeface="TT Fors"/>
                <a:cs typeface="TT Fors"/>
                <a:sym typeface="TT Fors"/>
              </a:rPr>
              <a:t>Foundation &amp; Infrastructure (Dec 2025) establishes the base with AI image enhancement and launches the "Virtual Staging Showcase" on December 3–4. It also implements pay-per-download models and security features by December 5.</a:t>
            </a:r>
          </a:p>
          <a:p>
            <a:pPr algn="l">
              <a:lnSpc>
                <a:spcPts val="2758"/>
              </a:lnSpc>
            </a:pPr>
          </a:p>
          <a:p>
            <a:pPr algn="l">
              <a:lnSpc>
                <a:spcPts val="2758"/>
              </a:lnSpc>
            </a:pPr>
            <a:r>
              <a:rPr lang="en-US" sz="2299" b="true">
                <a:solidFill>
                  <a:srgbClr val="FFFFFF"/>
                </a:solidFill>
                <a:latin typeface="TT Fors Bold"/>
                <a:ea typeface="TT Fors Bold"/>
                <a:cs typeface="TT Fors Bold"/>
                <a:sym typeface="TT Fors Bold"/>
              </a:rPr>
              <a:t>Phase 2:</a:t>
            </a:r>
            <a:r>
              <a:rPr lang="en-US" sz="2299">
                <a:solidFill>
                  <a:srgbClr val="FFFFFF"/>
                </a:solidFill>
                <a:latin typeface="TT Fors"/>
                <a:ea typeface="TT Fors"/>
                <a:cs typeface="TT Fors"/>
                <a:sym typeface="TT Fors"/>
              </a:rPr>
              <a:t> Structural Accuracy Sprint (Jan 12, 2026) focuses on precision with ControlNet for better 3D perspective, "Structural Preservation" to maintain room features, and "Forbidden Furniture" lists for style refinement.</a:t>
            </a:r>
          </a:p>
          <a:p>
            <a:pPr algn="l">
              <a:lnSpc>
                <a:spcPts val="2758"/>
              </a:lnSpc>
            </a:pPr>
          </a:p>
          <a:p>
            <a:pPr algn="l">
              <a:lnSpc>
                <a:spcPts val="2758"/>
              </a:lnSpc>
            </a:pPr>
            <a:r>
              <a:rPr lang="en-US" sz="2299" b="true">
                <a:solidFill>
                  <a:srgbClr val="FFFFFF"/>
                </a:solidFill>
                <a:latin typeface="TT Fors Bold"/>
                <a:ea typeface="TT Fors Bold"/>
                <a:cs typeface="TT Fors Bold"/>
                <a:sym typeface="TT Fors Bold"/>
              </a:rPr>
              <a:t>Phase 3:</a:t>
            </a:r>
            <a:r>
              <a:rPr lang="en-US" sz="2299">
                <a:solidFill>
                  <a:srgbClr val="FFFFFF"/>
                </a:solidFill>
                <a:latin typeface="TT Fors"/>
                <a:ea typeface="TT Fors"/>
                <a:cs typeface="TT Fors"/>
                <a:sym typeface="TT Fors"/>
              </a:rPr>
              <a:t> Supporting Ecosystem (Jan 19, 2026) introduces Agent Portfolios for users to manage and display staged results.</a:t>
            </a:r>
          </a:p>
          <a:p>
            <a:pPr algn="l">
              <a:lnSpc>
                <a:spcPts val="2758"/>
              </a:lnSpc>
            </a:pPr>
          </a:p>
          <a:p>
            <a:pPr algn="l">
              <a:lnSpc>
                <a:spcPts val="2758"/>
              </a:lnSpc>
            </a:pPr>
            <a:r>
              <a:rPr lang="en-US" sz="2299" b="true">
                <a:solidFill>
                  <a:srgbClr val="FFFFFF"/>
                </a:solidFill>
                <a:latin typeface="TT Fors Bold"/>
                <a:ea typeface="TT Fors Bold"/>
                <a:cs typeface="TT Fors Bold"/>
                <a:sym typeface="TT Fors Bold"/>
              </a:rPr>
              <a:t>Phase 4:</a:t>
            </a:r>
            <a:r>
              <a:rPr lang="en-US" sz="2299">
                <a:solidFill>
                  <a:srgbClr val="FFFFFF"/>
                </a:solidFill>
                <a:latin typeface="TT Fors"/>
                <a:ea typeface="TT Fors"/>
                <a:cs typeface="TT Fors"/>
                <a:sym typeface="TT Fors"/>
              </a:rPr>
              <a:t> Optimization &amp; Final Pipeline (Jan 20, 2026) includes migrating to SeeDream 4.5 for architectural consistency and revamping the backend for efficiency, finalizing the Additive Staging Pattern, and specialized logic for garages and outdoor spaces.</a:t>
            </a:r>
          </a:p>
        </p:txBody>
      </p:sp>
      <p:grpSp>
        <p:nvGrpSpPr>
          <p:cNvPr name="Group 6" id="6"/>
          <p:cNvGrpSpPr/>
          <p:nvPr/>
        </p:nvGrpSpPr>
        <p:grpSpPr>
          <a:xfrm rot="0">
            <a:off x="10734675" y="0"/>
            <a:ext cx="7553325" cy="10287000"/>
            <a:chOff x="0" y="0"/>
            <a:chExt cx="10071100" cy="13716000"/>
          </a:xfrm>
        </p:grpSpPr>
        <p:sp>
          <p:nvSpPr>
            <p:cNvPr name="Freeform 7" id="7"/>
            <p:cNvSpPr/>
            <p:nvPr/>
          </p:nvSpPr>
          <p:spPr>
            <a:xfrm flipH="false" flipV="false" rot="0">
              <a:off x="0" y="0"/>
              <a:ext cx="10071100" cy="13716000"/>
            </a:xfrm>
            <a:custGeom>
              <a:avLst/>
              <a:gdLst/>
              <a:ahLst/>
              <a:cxnLst/>
              <a:rect r="r" b="b" t="t" l="l"/>
              <a:pathLst>
                <a:path h="13716000" w="10071100">
                  <a:moveTo>
                    <a:pt x="0" y="0"/>
                  </a:moveTo>
                  <a:lnTo>
                    <a:pt x="10071100" y="0"/>
                  </a:lnTo>
                  <a:lnTo>
                    <a:pt x="10071100" y="13716000"/>
                  </a:lnTo>
                  <a:lnTo>
                    <a:pt x="0" y="13716000"/>
                  </a:lnTo>
                  <a:close/>
                </a:path>
              </a:pathLst>
            </a:custGeom>
            <a:blipFill>
              <a:blip r:embed="rId2"/>
              <a:stretch>
                <a:fillRect l="0" t="-193" r="0" b="-193"/>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E1F2F"/>
        </a:solidFill>
      </p:bgPr>
    </p:bg>
    <p:spTree>
      <p:nvGrpSpPr>
        <p:cNvPr id="1" name=""/>
        <p:cNvGrpSpPr/>
        <p:nvPr/>
      </p:nvGrpSpPr>
      <p:grpSpPr>
        <a:xfrm>
          <a:off x="0" y="0"/>
          <a:ext cx="0" cy="0"/>
          <a:chOff x="0" y="0"/>
          <a:chExt cx="0" cy="0"/>
        </a:xfrm>
      </p:grpSpPr>
      <p:sp>
        <p:nvSpPr>
          <p:cNvPr name="TextBox 2" id="2"/>
          <p:cNvSpPr txBox="true"/>
          <p:nvPr/>
        </p:nvSpPr>
        <p:spPr>
          <a:xfrm rot="0">
            <a:off x="1028700" y="1078068"/>
            <a:ext cx="6886575" cy="2239166"/>
          </a:xfrm>
          <a:prstGeom prst="rect">
            <a:avLst/>
          </a:prstGeom>
        </p:spPr>
        <p:txBody>
          <a:bodyPr anchor="t" rtlCol="false" tIns="0" lIns="0" bIns="0" rIns="0">
            <a:spAutoFit/>
          </a:bodyPr>
          <a:lstStyle/>
          <a:p>
            <a:pPr algn="l">
              <a:lnSpc>
                <a:spcPts val="8000"/>
              </a:lnSpc>
            </a:pPr>
            <a:r>
              <a:rPr lang="en-US" sz="8000" spc="-240">
                <a:solidFill>
                  <a:srgbClr val="FFFFFF"/>
                </a:solidFill>
                <a:latin typeface="ITC Avant Garde Gothic"/>
                <a:ea typeface="ITC Avant Garde Gothic"/>
                <a:cs typeface="ITC Avant Garde Gothic"/>
                <a:sym typeface="ITC Avant Garde Gothic"/>
              </a:rPr>
              <a:t>Challenges &amp; Mitigations</a:t>
            </a:r>
          </a:p>
        </p:txBody>
      </p:sp>
      <p:sp>
        <p:nvSpPr>
          <p:cNvPr name="TextBox 3" id="3"/>
          <p:cNvSpPr txBox="true"/>
          <p:nvPr/>
        </p:nvSpPr>
        <p:spPr>
          <a:xfrm rot="0">
            <a:off x="1028700" y="3549806"/>
            <a:ext cx="6886575" cy="1088231"/>
          </a:xfrm>
          <a:prstGeom prst="rect">
            <a:avLst/>
          </a:prstGeom>
        </p:spPr>
        <p:txBody>
          <a:bodyPr anchor="t" rtlCol="false" tIns="0" lIns="0" bIns="0" rIns="0">
            <a:spAutoFit/>
          </a:bodyPr>
          <a:lstStyle/>
          <a:p>
            <a:pPr algn="l">
              <a:lnSpc>
                <a:spcPts val="3839"/>
              </a:lnSpc>
            </a:pPr>
            <a:r>
              <a:rPr lang="en-US" sz="3199" spc="-95">
                <a:solidFill>
                  <a:srgbClr val="A0AEC0"/>
                </a:solidFill>
                <a:latin typeface="ITC Avant Garde Gothic"/>
                <a:ea typeface="ITC Avant Garde Gothic"/>
                <a:cs typeface="ITC Avant Garde Gothic"/>
                <a:sym typeface="ITC Avant Garde Gothic"/>
              </a:rPr>
              <a:t>Addressing potential issues and proposed solutions effectively</a:t>
            </a:r>
          </a:p>
        </p:txBody>
      </p:sp>
      <p:sp>
        <p:nvSpPr>
          <p:cNvPr name="TextBox 4" id="4"/>
          <p:cNvSpPr txBox="true"/>
          <p:nvPr/>
        </p:nvSpPr>
        <p:spPr>
          <a:xfrm rot="0">
            <a:off x="9296400" y="1524829"/>
            <a:ext cx="6886575" cy="1755772"/>
          </a:xfrm>
          <a:prstGeom prst="rect">
            <a:avLst/>
          </a:prstGeom>
        </p:spPr>
        <p:txBody>
          <a:bodyPr anchor="t" rtlCol="false" tIns="0" lIns="0" bIns="0" rIns="0">
            <a:spAutoFit/>
          </a:bodyPr>
          <a:lstStyle/>
          <a:p>
            <a:pPr algn="l">
              <a:lnSpc>
                <a:spcPts val="3499"/>
              </a:lnSpc>
            </a:pPr>
            <a:r>
              <a:rPr lang="en-US" sz="2499">
                <a:solidFill>
                  <a:srgbClr val="FFFFFF"/>
                </a:solidFill>
                <a:latin typeface="TT Fors"/>
                <a:ea typeface="TT Fors"/>
                <a:cs typeface="TT Fors"/>
                <a:sym typeface="TT Fors"/>
              </a:rPr>
              <a:t>Automated fallbacks to OpenAI API ensure uninterrupted service during model downtimes, maintaining a seamless user experience without delays.</a:t>
            </a:r>
          </a:p>
        </p:txBody>
      </p:sp>
      <p:sp>
        <p:nvSpPr>
          <p:cNvPr name="TextBox 5" id="5"/>
          <p:cNvSpPr txBox="true"/>
          <p:nvPr/>
        </p:nvSpPr>
        <p:spPr>
          <a:xfrm rot="0">
            <a:off x="9296400" y="911381"/>
            <a:ext cx="6886575" cy="487223"/>
          </a:xfrm>
          <a:prstGeom prst="rect">
            <a:avLst/>
          </a:prstGeom>
        </p:spPr>
        <p:txBody>
          <a:bodyPr anchor="t" rtlCol="false" tIns="0" lIns="0" bIns="0" rIns="0">
            <a:spAutoFit/>
          </a:bodyPr>
          <a:lstStyle/>
          <a:p>
            <a:pPr algn="l">
              <a:lnSpc>
                <a:spcPts val="3594"/>
              </a:lnSpc>
            </a:pPr>
            <a:r>
              <a:rPr lang="en-US" sz="2567" spc="-77">
                <a:solidFill>
                  <a:srgbClr val="FFFFFF"/>
                </a:solidFill>
                <a:latin typeface="ITC Avant Garde Gothic"/>
                <a:ea typeface="ITC Avant Garde Gothic"/>
                <a:cs typeface="ITC Avant Garde Gothic"/>
                <a:sym typeface="ITC Avant Garde Gothic"/>
              </a:rPr>
              <a:t>Model Downtime - Medium</a:t>
            </a:r>
          </a:p>
        </p:txBody>
      </p:sp>
      <p:sp>
        <p:nvSpPr>
          <p:cNvPr name="TextBox 6" id="6"/>
          <p:cNvSpPr txBox="true"/>
          <p:nvPr/>
        </p:nvSpPr>
        <p:spPr>
          <a:xfrm rot="0">
            <a:off x="9296400" y="4480655"/>
            <a:ext cx="6886575" cy="1755772"/>
          </a:xfrm>
          <a:prstGeom prst="rect">
            <a:avLst/>
          </a:prstGeom>
        </p:spPr>
        <p:txBody>
          <a:bodyPr anchor="t" rtlCol="false" tIns="0" lIns="0" bIns="0" rIns="0">
            <a:spAutoFit/>
          </a:bodyPr>
          <a:lstStyle/>
          <a:p>
            <a:pPr algn="l">
              <a:lnSpc>
                <a:spcPts val="3499"/>
              </a:lnSpc>
            </a:pPr>
            <a:r>
              <a:rPr lang="en-US" sz="2499">
                <a:solidFill>
                  <a:srgbClr val="FFFFFF"/>
                </a:solidFill>
                <a:latin typeface="TT Fors"/>
                <a:ea typeface="TT Fors"/>
                <a:cs typeface="TT Fors"/>
                <a:sym typeface="TT Fors"/>
              </a:rPr>
              <a:t>Implementing refined structural integrity rules minimizes floating furniture artifacts, ensuring realistic staging while preserving the appearance of natural shadows.</a:t>
            </a:r>
          </a:p>
        </p:txBody>
      </p:sp>
      <p:sp>
        <p:nvSpPr>
          <p:cNvPr name="TextBox 7" id="7"/>
          <p:cNvSpPr txBox="true"/>
          <p:nvPr/>
        </p:nvSpPr>
        <p:spPr>
          <a:xfrm rot="0">
            <a:off x="9296400" y="3867217"/>
            <a:ext cx="6886575" cy="487223"/>
          </a:xfrm>
          <a:prstGeom prst="rect">
            <a:avLst/>
          </a:prstGeom>
        </p:spPr>
        <p:txBody>
          <a:bodyPr anchor="t" rtlCol="false" tIns="0" lIns="0" bIns="0" rIns="0">
            <a:spAutoFit/>
          </a:bodyPr>
          <a:lstStyle/>
          <a:p>
            <a:pPr algn="l">
              <a:lnSpc>
                <a:spcPts val="3594"/>
              </a:lnSpc>
            </a:pPr>
            <a:r>
              <a:rPr lang="en-US" sz="2567" spc="-77">
                <a:solidFill>
                  <a:srgbClr val="FFFFFF"/>
                </a:solidFill>
                <a:latin typeface="ITC Avant Garde Gothic"/>
                <a:ea typeface="ITC Avant Garde Gothic"/>
                <a:cs typeface="ITC Avant Garde Gothic"/>
                <a:sym typeface="ITC Avant Garde Gothic"/>
              </a:rPr>
              <a:t>Floating Artifacts - Low</a:t>
            </a:r>
          </a:p>
        </p:txBody>
      </p:sp>
      <p:sp>
        <p:nvSpPr>
          <p:cNvPr name="TextBox 8" id="8"/>
          <p:cNvSpPr txBox="true"/>
          <p:nvPr/>
        </p:nvSpPr>
        <p:spPr>
          <a:xfrm rot="0">
            <a:off x="9296400" y="7437215"/>
            <a:ext cx="6886575" cy="1755772"/>
          </a:xfrm>
          <a:prstGeom prst="rect">
            <a:avLst/>
          </a:prstGeom>
        </p:spPr>
        <p:txBody>
          <a:bodyPr anchor="t" rtlCol="false" tIns="0" lIns="0" bIns="0" rIns="0">
            <a:spAutoFit/>
          </a:bodyPr>
          <a:lstStyle/>
          <a:p>
            <a:pPr algn="l">
              <a:lnSpc>
                <a:spcPts val="3499"/>
              </a:lnSpc>
            </a:pPr>
            <a:r>
              <a:rPr lang="en-US" sz="2499">
                <a:solidFill>
                  <a:srgbClr val="FFFFFF"/>
                </a:solidFill>
                <a:latin typeface="TT Fors"/>
                <a:ea typeface="TT Fors"/>
                <a:cs typeface="TT Fors"/>
                <a:sym typeface="TT Fors"/>
              </a:rPr>
              <a:t>Strict adherence to structural integrity rules prevents architectural hallucinations, avoiding legal risks and ensuring that generated images retain authenticity and accuracy.</a:t>
            </a:r>
          </a:p>
        </p:txBody>
      </p:sp>
      <p:sp>
        <p:nvSpPr>
          <p:cNvPr name="TextBox 9" id="9"/>
          <p:cNvSpPr txBox="true"/>
          <p:nvPr/>
        </p:nvSpPr>
        <p:spPr>
          <a:xfrm rot="0">
            <a:off x="9296400" y="6824596"/>
            <a:ext cx="6886575" cy="487223"/>
          </a:xfrm>
          <a:prstGeom prst="rect">
            <a:avLst/>
          </a:prstGeom>
        </p:spPr>
        <p:txBody>
          <a:bodyPr anchor="t" rtlCol="false" tIns="0" lIns="0" bIns="0" rIns="0">
            <a:spAutoFit/>
          </a:bodyPr>
          <a:lstStyle/>
          <a:p>
            <a:pPr algn="l">
              <a:lnSpc>
                <a:spcPts val="3594"/>
              </a:lnSpc>
            </a:pPr>
            <a:r>
              <a:rPr lang="en-US" sz="2567" spc="-77">
                <a:solidFill>
                  <a:srgbClr val="FFFFFF"/>
                </a:solidFill>
                <a:latin typeface="ITC Avant Garde Gothic"/>
                <a:ea typeface="ITC Avant Garde Gothic"/>
                <a:cs typeface="ITC Avant Garde Gothic"/>
                <a:sym typeface="ITC Avant Garde Gothic"/>
              </a:rPr>
              <a:t>Architectural Hallucinations - Low</a:t>
            </a:r>
          </a:p>
        </p:txBody>
      </p:sp>
      <p:sp>
        <p:nvSpPr>
          <p:cNvPr name="Freeform 10" id="10"/>
          <p:cNvSpPr/>
          <p:nvPr/>
        </p:nvSpPr>
        <p:spPr>
          <a:xfrm flipH="false" flipV="false" rot="0">
            <a:off x="-374656" y="7401039"/>
            <a:ext cx="1791957" cy="1791957"/>
          </a:xfrm>
          <a:custGeom>
            <a:avLst/>
            <a:gdLst/>
            <a:ahLst/>
            <a:cxnLst/>
            <a:rect r="r" b="b" t="t" l="l"/>
            <a:pathLst>
              <a:path h="1791957" w="1791957">
                <a:moveTo>
                  <a:pt x="0" y="0"/>
                </a:moveTo>
                <a:lnTo>
                  <a:pt x="1791957" y="0"/>
                </a:lnTo>
                <a:lnTo>
                  <a:pt x="1791957" y="1791958"/>
                </a:lnTo>
                <a:lnTo>
                  <a:pt x="0" y="1791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152687" y="7401039"/>
            <a:ext cx="1791957" cy="1791957"/>
          </a:xfrm>
          <a:custGeom>
            <a:avLst/>
            <a:gdLst/>
            <a:ahLst/>
            <a:cxnLst/>
            <a:rect r="r" b="b" t="t" l="l"/>
            <a:pathLst>
              <a:path h="1791957" w="1791957">
                <a:moveTo>
                  <a:pt x="0" y="0"/>
                </a:moveTo>
                <a:lnTo>
                  <a:pt x="1791957" y="0"/>
                </a:lnTo>
                <a:lnTo>
                  <a:pt x="1791957" y="1791958"/>
                </a:lnTo>
                <a:lnTo>
                  <a:pt x="0" y="1791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2680030" y="7401039"/>
            <a:ext cx="1791957" cy="1791957"/>
          </a:xfrm>
          <a:custGeom>
            <a:avLst/>
            <a:gdLst/>
            <a:ahLst/>
            <a:cxnLst/>
            <a:rect r="r" b="b" t="t" l="l"/>
            <a:pathLst>
              <a:path h="1791957" w="1791957">
                <a:moveTo>
                  <a:pt x="0" y="0"/>
                </a:moveTo>
                <a:lnTo>
                  <a:pt x="1791958" y="0"/>
                </a:lnTo>
                <a:lnTo>
                  <a:pt x="1791958" y="1791958"/>
                </a:lnTo>
                <a:lnTo>
                  <a:pt x="0" y="1791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53754"/>
        </a:solidFill>
      </p:bgPr>
    </p:bg>
    <p:spTree>
      <p:nvGrpSpPr>
        <p:cNvPr id="1" name=""/>
        <p:cNvGrpSpPr/>
        <p:nvPr/>
      </p:nvGrpSpPr>
      <p:grpSpPr>
        <a:xfrm>
          <a:off x="0" y="0"/>
          <a:ext cx="0" cy="0"/>
          <a:chOff x="0" y="0"/>
          <a:chExt cx="0" cy="0"/>
        </a:xfrm>
      </p:grpSpPr>
      <p:sp>
        <p:nvSpPr>
          <p:cNvPr name="TextBox 2" id="2"/>
          <p:cNvSpPr txBox="true"/>
          <p:nvPr/>
        </p:nvSpPr>
        <p:spPr>
          <a:xfrm rot="0">
            <a:off x="1028700" y="1012031"/>
            <a:ext cx="6886575" cy="2239166"/>
          </a:xfrm>
          <a:prstGeom prst="rect">
            <a:avLst/>
          </a:prstGeom>
        </p:spPr>
        <p:txBody>
          <a:bodyPr anchor="t" rtlCol="false" tIns="0" lIns="0" bIns="0" rIns="0">
            <a:spAutoFit/>
          </a:bodyPr>
          <a:lstStyle/>
          <a:p>
            <a:pPr algn="l">
              <a:lnSpc>
                <a:spcPts val="8000"/>
              </a:lnSpc>
            </a:pPr>
            <a:r>
              <a:rPr lang="en-US" sz="8000" spc="-240">
                <a:solidFill>
                  <a:srgbClr val="FFFFFF"/>
                </a:solidFill>
                <a:latin typeface="ITC Avant Garde Gothic"/>
                <a:ea typeface="ITC Avant Garde Gothic"/>
                <a:cs typeface="ITC Avant Garde Gothic"/>
                <a:sym typeface="ITC Avant Garde Gothic"/>
              </a:rPr>
              <a:t>Resources Needed</a:t>
            </a:r>
          </a:p>
        </p:txBody>
      </p:sp>
      <p:sp>
        <p:nvSpPr>
          <p:cNvPr name="TextBox 3" id="3"/>
          <p:cNvSpPr txBox="true"/>
          <p:nvPr/>
        </p:nvSpPr>
        <p:spPr>
          <a:xfrm rot="0">
            <a:off x="1028700" y="3483769"/>
            <a:ext cx="6886575" cy="1088231"/>
          </a:xfrm>
          <a:prstGeom prst="rect">
            <a:avLst/>
          </a:prstGeom>
        </p:spPr>
        <p:txBody>
          <a:bodyPr anchor="t" rtlCol="false" tIns="0" lIns="0" bIns="0" rIns="0">
            <a:spAutoFit/>
          </a:bodyPr>
          <a:lstStyle/>
          <a:p>
            <a:pPr algn="l">
              <a:lnSpc>
                <a:spcPts val="3839"/>
              </a:lnSpc>
            </a:pPr>
            <a:r>
              <a:rPr lang="en-US" sz="3199" spc="-95">
                <a:solidFill>
                  <a:srgbClr val="A0AEC0"/>
                </a:solidFill>
                <a:latin typeface="ITC Avant Garde Gothic"/>
                <a:ea typeface="ITC Avant Garde Gothic"/>
                <a:cs typeface="ITC Avant Garde Gothic"/>
                <a:sym typeface="ITC Avant Garde Gothic"/>
              </a:rPr>
              <a:t>Breakdown of resources, frameworks, and costs.</a:t>
            </a:r>
          </a:p>
        </p:txBody>
      </p:sp>
      <p:grpSp>
        <p:nvGrpSpPr>
          <p:cNvPr name="Group 4" id="4"/>
          <p:cNvGrpSpPr/>
          <p:nvPr/>
        </p:nvGrpSpPr>
        <p:grpSpPr>
          <a:xfrm rot="0">
            <a:off x="9144000" y="1057158"/>
            <a:ext cx="6886575" cy="2368369"/>
            <a:chOff x="0" y="0"/>
            <a:chExt cx="9182100" cy="3157825"/>
          </a:xfrm>
        </p:grpSpPr>
        <p:sp>
          <p:nvSpPr>
            <p:cNvPr name="TextBox 5" id="5"/>
            <p:cNvSpPr txBox="true"/>
            <p:nvPr/>
          </p:nvSpPr>
          <p:spPr>
            <a:xfrm rot="0">
              <a:off x="0" y="867626"/>
              <a:ext cx="9182100" cy="2290199"/>
            </a:xfrm>
            <a:prstGeom prst="rect">
              <a:avLst/>
            </a:prstGeom>
          </p:spPr>
          <p:txBody>
            <a:bodyPr anchor="t" rtlCol="false" tIns="0" lIns="0" bIns="0" rIns="0">
              <a:spAutoFit/>
            </a:bodyPr>
            <a:lstStyle/>
            <a:p>
              <a:pPr algn="l">
                <a:lnSpc>
                  <a:spcPts val="3499"/>
                </a:lnSpc>
              </a:pPr>
              <a:r>
                <a:rPr lang="en-US" sz="2499">
                  <a:solidFill>
                    <a:srgbClr val="FFFFFF"/>
                  </a:solidFill>
                  <a:latin typeface="TT Fors"/>
                  <a:ea typeface="TT Fors"/>
                  <a:cs typeface="TT Fors"/>
                  <a:sym typeface="TT Fors"/>
                </a:rPr>
                <a:t>Leveraging Replicate API and Replit for hosting will ensure efficient processing and seamless user experiences as image demand grows.</a:t>
              </a:r>
            </a:p>
          </p:txBody>
        </p:sp>
        <p:sp>
          <p:nvSpPr>
            <p:cNvPr name="TextBox 6" id="6"/>
            <p:cNvSpPr txBox="true"/>
            <p:nvPr/>
          </p:nvSpPr>
          <p:spPr>
            <a:xfrm rot="0">
              <a:off x="0" y="-104775"/>
              <a:ext cx="9182100" cy="731101"/>
            </a:xfrm>
            <a:prstGeom prst="rect">
              <a:avLst/>
            </a:prstGeom>
          </p:spPr>
          <p:txBody>
            <a:bodyPr anchor="t" rtlCol="false" tIns="0" lIns="0" bIns="0" rIns="0">
              <a:spAutoFit/>
            </a:bodyPr>
            <a:lstStyle/>
            <a:p>
              <a:pPr algn="l">
                <a:lnSpc>
                  <a:spcPts val="3640"/>
                </a:lnSpc>
              </a:pPr>
              <a:r>
                <a:rPr lang="en-US" sz="2600" spc="-77">
                  <a:solidFill>
                    <a:srgbClr val="FFFFFF"/>
                  </a:solidFill>
                  <a:latin typeface="ITC Avant Garde Gothic"/>
                  <a:ea typeface="ITC Avant Garde Gothic"/>
                  <a:cs typeface="ITC Avant Garde Gothic"/>
                  <a:sym typeface="ITC Avant Garde Gothic"/>
                </a:rPr>
                <a:t>Compute Resources</a:t>
              </a:r>
            </a:p>
          </p:txBody>
        </p:sp>
      </p:grpSp>
      <p:grpSp>
        <p:nvGrpSpPr>
          <p:cNvPr name="Group 7" id="7"/>
          <p:cNvGrpSpPr/>
          <p:nvPr/>
        </p:nvGrpSpPr>
        <p:grpSpPr>
          <a:xfrm rot="0">
            <a:off x="9144000" y="4178002"/>
            <a:ext cx="6886575" cy="2396966"/>
            <a:chOff x="0" y="0"/>
            <a:chExt cx="9182100" cy="3195955"/>
          </a:xfrm>
        </p:grpSpPr>
        <p:sp>
          <p:nvSpPr>
            <p:cNvPr name="TextBox 8" id="8"/>
            <p:cNvSpPr txBox="true"/>
            <p:nvPr/>
          </p:nvSpPr>
          <p:spPr>
            <a:xfrm rot="0">
              <a:off x="0" y="867626"/>
              <a:ext cx="9182100" cy="2328329"/>
            </a:xfrm>
            <a:prstGeom prst="rect">
              <a:avLst/>
            </a:prstGeom>
          </p:spPr>
          <p:txBody>
            <a:bodyPr anchor="t" rtlCol="false" tIns="0" lIns="0" bIns="0" rIns="0">
              <a:spAutoFit/>
            </a:bodyPr>
            <a:lstStyle/>
            <a:p>
              <a:pPr algn="l">
                <a:lnSpc>
                  <a:spcPts val="3499"/>
                </a:lnSpc>
              </a:pPr>
              <a:r>
                <a:rPr lang="en-US" sz="2499">
                  <a:solidFill>
                    <a:srgbClr val="FFFFFF"/>
                  </a:solidFill>
                  <a:latin typeface="TT Fors"/>
                  <a:ea typeface="TT Fors"/>
                  <a:cs typeface="TT Fors"/>
                  <a:sym typeface="TT Fors"/>
                </a:rPr>
                <a:t>Utilizing Hugging Face with Node.js/Express and Neon/PostgreSQL will enhance performance and scalability for comprehensive AI functionalities.</a:t>
              </a:r>
            </a:p>
          </p:txBody>
        </p:sp>
        <p:sp>
          <p:nvSpPr>
            <p:cNvPr name="TextBox 9" id="9"/>
            <p:cNvSpPr txBox="true"/>
            <p:nvPr/>
          </p:nvSpPr>
          <p:spPr>
            <a:xfrm rot="0">
              <a:off x="0" y="-104775"/>
              <a:ext cx="9182100" cy="731101"/>
            </a:xfrm>
            <a:prstGeom prst="rect">
              <a:avLst/>
            </a:prstGeom>
          </p:spPr>
          <p:txBody>
            <a:bodyPr anchor="t" rtlCol="false" tIns="0" lIns="0" bIns="0" rIns="0">
              <a:spAutoFit/>
            </a:bodyPr>
            <a:lstStyle/>
            <a:p>
              <a:pPr algn="l">
                <a:lnSpc>
                  <a:spcPts val="3640"/>
                </a:lnSpc>
              </a:pPr>
              <a:r>
                <a:rPr lang="en-US" sz="2600" spc="-77">
                  <a:solidFill>
                    <a:srgbClr val="FFFFFF"/>
                  </a:solidFill>
                  <a:latin typeface="ITC Avant Garde Gothic"/>
                  <a:ea typeface="ITC Avant Garde Gothic"/>
                  <a:cs typeface="ITC Avant Garde Gothic"/>
                  <a:sym typeface="ITC Avant Garde Gothic"/>
                </a:rPr>
                <a:t>Framework Implementation</a:t>
              </a:r>
            </a:p>
          </p:txBody>
        </p:sp>
      </p:grpSp>
      <p:grpSp>
        <p:nvGrpSpPr>
          <p:cNvPr name="Group 10" id="10"/>
          <p:cNvGrpSpPr/>
          <p:nvPr/>
        </p:nvGrpSpPr>
        <p:grpSpPr>
          <a:xfrm rot="0">
            <a:off x="9144000" y="7329924"/>
            <a:ext cx="6886575" cy="1928376"/>
            <a:chOff x="0" y="0"/>
            <a:chExt cx="9182100" cy="2571168"/>
          </a:xfrm>
        </p:grpSpPr>
        <p:sp>
          <p:nvSpPr>
            <p:cNvPr name="TextBox 11" id="11"/>
            <p:cNvSpPr txBox="true"/>
            <p:nvPr/>
          </p:nvSpPr>
          <p:spPr>
            <a:xfrm rot="0">
              <a:off x="0" y="865168"/>
              <a:ext cx="9182100" cy="1705999"/>
            </a:xfrm>
            <a:prstGeom prst="rect">
              <a:avLst/>
            </a:prstGeom>
          </p:spPr>
          <p:txBody>
            <a:bodyPr anchor="t" rtlCol="false" tIns="0" lIns="0" bIns="0" rIns="0">
              <a:spAutoFit/>
            </a:bodyPr>
            <a:lstStyle/>
            <a:p>
              <a:pPr algn="l">
                <a:lnSpc>
                  <a:spcPts val="3499"/>
                </a:lnSpc>
              </a:pPr>
              <a:r>
                <a:rPr lang="en-US" sz="2499">
                  <a:solidFill>
                    <a:srgbClr val="FFFFFF"/>
                  </a:solidFill>
                  <a:latin typeface="TT Fors"/>
                  <a:ea typeface="TT Fors"/>
                  <a:cs typeface="TT Fors"/>
                  <a:sym typeface="TT Fors"/>
                </a:rPr>
                <a:t>Projecting a $5-$10 cost per 100 images allows for sustainable growth while providing valuable services and robust features to users.</a:t>
              </a:r>
            </a:p>
          </p:txBody>
        </p:sp>
        <p:sp>
          <p:nvSpPr>
            <p:cNvPr name="TextBox 12" id="12"/>
            <p:cNvSpPr txBox="true"/>
            <p:nvPr/>
          </p:nvSpPr>
          <p:spPr>
            <a:xfrm rot="0">
              <a:off x="0" y="-104775"/>
              <a:ext cx="9182100" cy="731101"/>
            </a:xfrm>
            <a:prstGeom prst="rect">
              <a:avLst/>
            </a:prstGeom>
          </p:spPr>
          <p:txBody>
            <a:bodyPr anchor="t" rtlCol="false" tIns="0" lIns="0" bIns="0" rIns="0">
              <a:spAutoFit/>
            </a:bodyPr>
            <a:lstStyle/>
            <a:p>
              <a:pPr algn="l">
                <a:lnSpc>
                  <a:spcPts val="3640"/>
                </a:lnSpc>
              </a:pPr>
              <a:r>
                <a:rPr lang="en-US" sz="2600" spc="-77">
                  <a:solidFill>
                    <a:srgbClr val="FFFFFF"/>
                  </a:solidFill>
                  <a:latin typeface="ITC Avant Garde Gothic"/>
                  <a:ea typeface="ITC Avant Garde Gothic"/>
                  <a:cs typeface="ITC Avant Garde Gothic"/>
                  <a:sym typeface="ITC Avant Garde Gothic"/>
                </a:rPr>
                <a:t>Cost Estimation</a:t>
              </a:r>
            </a:p>
          </p:txBody>
        </p:sp>
      </p:grpSp>
      <p:sp>
        <p:nvSpPr>
          <p:cNvPr name="Freeform 13" id="13"/>
          <p:cNvSpPr/>
          <p:nvPr/>
        </p:nvSpPr>
        <p:spPr>
          <a:xfrm flipH="false" flipV="false" rot="0">
            <a:off x="-374656" y="7536199"/>
            <a:ext cx="1791957" cy="1791957"/>
          </a:xfrm>
          <a:custGeom>
            <a:avLst/>
            <a:gdLst/>
            <a:ahLst/>
            <a:cxnLst/>
            <a:rect r="r" b="b" t="t" l="l"/>
            <a:pathLst>
              <a:path h="1791957" w="1791957">
                <a:moveTo>
                  <a:pt x="0" y="0"/>
                </a:moveTo>
                <a:lnTo>
                  <a:pt x="1791957" y="0"/>
                </a:lnTo>
                <a:lnTo>
                  <a:pt x="1791957"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152687" y="7536199"/>
            <a:ext cx="1791957" cy="1791957"/>
          </a:xfrm>
          <a:custGeom>
            <a:avLst/>
            <a:gdLst/>
            <a:ahLst/>
            <a:cxnLst/>
            <a:rect r="r" b="b" t="t" l="l"/>
            <a:pathLst>
              <a:path h="1791957" w="1791957">
                <a:moveTo>
                  <a:pt x="0" y="0"/>
                </a:moveTo>
                <a:lnTo>
                  <a:pt x="1791957" y="0"/>
                </a:lnTo>
                <a:lnTo>
                  <a:pt x="1791957"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2680030" y="7536199"/>
            <a:ext cx="1791957" cy="1791957"/>
          </a:xfrm>
          <a:custGeom>
            <a:avLst/>
            <a:gdLst/>
            <a:ahLst/>
            <a:cxnLst/>
            <a:rect r="r" b="b" t="t" l="l"/>
            <a:pathLst>
              <a:path h="1791957" w="1791957">
                <a:moveTo>
                  <a:pt x="0" y="0"/>
                </a:moveTo>
                <a:lnTo>
                  <a:pt x="1791958" y="0"/>
                </a:lnTo>
                <a:lnTo>
                  <a:pt x="1791958" y="1791957"/>
                </a:lnTo>
                <a:lnTo>
                  <a:pt x="0" y="17919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53754"/>
        </a:solidFill>
      </p:bgPr>
    </p:bg>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0477500" cy="13716000"/>
          </a:xfrm>
        </p:grpSpPr>
        <p:sp>
          <p:nvSpPr>
            <p:cNvPr name="Freeform 3" id="3"/>
            <p:cNvSpPr/>
            <p:nvPr/>
          </p:nvSpPr>
          <p:spPr>
            <a:xfrm flipH="false" flipV="false" rot="0">
              <a:off x="0" y="0"/>
              <a:ext cx="10477500" cy="13716000"/>
            </a:xfrm>
            <a:custGeom>
              <a:avLst/>
              <a:gdLst/>
              <a:ahLst/>
              <a:cxnLst/>
              <a:rect r="r" b="b" t="t" l="l"/>
              <a:pathLst>
                <a:path h="13716000" w="10477500">
                  <a:moveTo>
                    <a:pt x="0" y="0"/>
                  </a:moveTo>
                  <a:lnTo>
                    <a:pt x="10477500" y="0"/>
                  </a:lnTo>
                  <a:lnTo>
                    <a:pt x="10477500" y="13716000"/>
                  </a:lnTo>
                  <a:lnTo>
                    <a:pt x="0" y="13716000"/>
                  </a:lnTo>
                  <a:close/>
                </a:path>
              </a:pathLst>
            </a:custGeom>
            <a:blipFill>
              <a:blip r:embed="rId2"/>
              <a:stretch>
                <a:fillRect l="0" t="-255" r="0" b="-255"/>
              </a:stretch>
            </a:blipFill>
          </p:spPr>
        </p:sp>
      </p:grpSp>
      <p:sp>
        <p:nvSpPr>
          <p:cNvPr name="TextBox 4" id="4"/>
          <p:cNvSpPr txBox="true"/>
          <p:nvPr/>
        </p:nvSpPr>
        <p:spPr>
          <a:xfrm rot="0">
            <a:off x="1647835" y="2395252"/>
            <a:ext cx="6638611" cy="1539859"/>
          </a:xfrm>
          <a:prstGeom prst="rect">
            <a:avLst/>
          </a:prstGeom>
        </p:spPr>
        <p:txBody>
          <a:bodyPr anchor="t" rtlCol="false" tIns="0" lIns="0" bIns="0" rIns="0">
            <a:spAutoFit/>
          </a:bodyPr>
          <a:lstStyle/>
          <a:p>
            <a:pPr algn="l">
              <a:lnSpc>
                <a:spcPts val="9999"/>
              </a:lnSpc>
            </a:pPr>
            <a:r>
              <a:rPr lang="en-US" sz="9999" spc="-298">
                <a:solidFill>
                  <a:srgbClr val="FFFFFF"/>
                </a:solidFill>
                <a:latin typeface="ITC Avant Garde Gothic"/>
                <a:ea typeface="ITC Avant Garde Gothic"/>
                <a:cs typeface="ITC Avant Garde Gothic"/>
                <a:sym typeface="ITC Avant Garde Gothic"/>
              </a:rPr>
              <a:t>Thank You!</a:t>
            </a:r>
          </a:p>
        </p:txBody>
      </p:sp>
      <p:sp>
        <p:nvSpPr>
          <p:cNvPr name="Freeform 5" id="5"/>
          <p:cNvSpPr/>
          <p:nvPr/>
        </p:nvSpPr>
        <p:spPr>
          <a:xfrm flipH="false" flipV="false" rot="0">
            <a:off x="-306591" y="7466343"/>
            <a:ext cx="1791957" cy="1791957"/>
          </a:xfrm>
          <a:custGeom>
            <a:avLst/>
            <a:gdLst/>
            <a:ahLst/>
            <a:cxnLst/>
            <a:rect r="r" b="b" t="t" l="l"/>
            <a:pathLst>
              <a:path h="1791957" w="1791957">
                <a:moveTo>
                  <a:pt x="0" y="0"/>
                </a:moveTo>
                <a:lnTo>
                  <a:pt x="1791958" y="0"/>
                </a:lnTo>
                <a:lnTo>
                  <a:pt x="1791958" y="1791957"/>
                </a:lnTo>
                <a:lnTo>
                  <a:pt x="0" y="17919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220753" y="7466343"/>
            <a:ext cx="1791957" cy="1791957"/>
          </a:xfrm>
          <a:custGeom>
            <a:avLst/>
            <a:gdLst/>
            <a:ahLst/>
            <a:cxnLst/>
            <a:rect r="r" b="b" t="t" l="l"/>
            <a:pathLst>
              <a:path h="1791957" w="1791957">
                <a:moveTo>
                  <a:pt x="0" y="0"/>
                </a:moveTo>
                <a:lnTo>
                  <a:pt x="1791957" y="0"/>
                </a:lnTo>
                <a:lnTo>
                  <a:pt x="1791957" y="1791957"/>
                </a:lnTo>
                <a:lnTo>
                  <a:pt x="0" y="17919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748096" y="7466343"/>
            <a:ext cx="1791957" cy="1791957"/>
          </a:xfrm>
          <a:custGeom>
            <a:avLst/>
            <a:gdLst/>
            <a:ahLst/>
            <a:cxnLst/>
            <a:rect r="r" b="b" t="t" l="l"/>
            <a:pathLst>
              <a:path h="1791957" w="1791957">
                <a:moveTo>
                  <a:pt x="0" y="0"/>
                </a:moveTo>
                <a:lnTo>
                  <a:pt x="1791957" y="0"/>
                </a:lnTo>
                <a:lnTo>
                  <a:pt x="1791957" y="1791957"/>
                </a:lnTo>
                <a:lnTo>
                  <a:pt x="0" y="17919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647835" y="4339809"/>
            <a:ext cx="6086970" cy="600713"/>
          </a:xfrm>
          <a:prstGeom prst="rect">
            <a:avLst/>
          </a:prstGeom>
        </p:spPr>
        <p:txBody>
          <a:bodyPr anchor="t" rtlCol="false" tIns="0" lIns="0" bIns="0" rIns="0">
            <a:spAutoFit/>
          </a:bodyPr>
          <a:lstStyle/>
          <a:p>
            <a:pPr algn="ctr">
              <a:lnSpc>
                <a:spcPts val="3640"/>
              </a:lnSpc>
            </a:pPr>
            <a:r>
              <a:rPr lang="en-US" sz="2600" spc="-77">
                <a:solidFill>
                  <a:srgbClr val="FFFFFF"/>
                </a:solidFill>
                <a:latin typeface="ITC Avant Garde Gothic"/>
                <a:ea typeface="ITC Avant Garde Gothic"/>
                <a:cs typeface="ITC Avant Garde Gothic"/>
                <a:sym typeface="ITC Avant Garde Gothic"/>
              </a:rPr>
              <a:t>See it in action at: </a:t>
            </a:r>
            <a:r>
              <a:rPr lang="en-US" sz="2600" spc="-77" u="sng">
                <a:solidFill>
                  <a:srgbClr val="0000FF"/>
                </a:solidFill>
                <a:latin typeface="ITC Avant Garde Gothic"/>
                <a:ea typeface="ITC Avant Garde Gothic"/>
                <a:cs typeface="ITC Avant Garde Gothic"/>
                <a:sym typeface="ITC Avant Garde Gothic"/>
                <a:hlinkClick r:id="rId5" tooltip="http://reaisolution.com"/>
              </a:rPr>
              <a:t>www.reaisolution.com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DAHDAgE4x-c</dc:identifier>
  <dcterms:modified xsi:type="dcterms:W3CDTF">2011-08-01T06:04:30Z</dcterms:modified>
  <cp:revision>1</cp:revision>
  <dc:title>Presentation - AI-Powered Virtual Staging</dc:title>
</cp:coreProperties>
</file>